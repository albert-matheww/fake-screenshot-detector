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3317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B8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2 · PROJECT PRESENTATION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651760"/>
            <a:ext cx="8686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Fake Screenshot</a:t>
            </a:r>
            <a:endParaRPr lang="en-US" sz="4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Detector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25196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automated, explainable forensic pipeline for detecting tampered chat, bank-statement, social, and payment screenshots — now covering eight screenshot categories.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3093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github.com/albert-matheww/fake-screenshot-detector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9646920" y="1737360"/>
            <a:ext cx="45720" cy="45720"/>
          </a:xfrm>
          <a:prstGeom prst="ellipse">
            <a:avLst/>
          </a:prstGeom>
          <a:solidFill>
            <a:srgbClr val="2C3B60"/>
          </a:solidFill>
          <a:ln/>
        </p:spPr>
      </p:sp>
      <p:sp>
        <p:nvSpPr>
          <p:cNvPr id="7" name="Shape 5"/>
          <p:cNvSpPr/>
          <p:nvPr/>
        </p:nvSpPr>
        <p:spPr>
          <a:xfrm>
            <a:off x="9939528" y="1737360"/>
            <a:ext cx="45720" cy="45720"/>
          </a:xfrm>
          <a:prstGeom prst="ellipse">
            <a:avLst/>
          </a:prstGeom>
          <a:solidFill>
            <a:srgbClr val="2C3B60"/>
          </a:solidFill>
          <a:ln/>
        </p:spPr>
      </p:sp>
      <p:sp>
        <p:nvSpPr>
          <p:cNvPr id="8" name="Shape 6"/>
          <p:cNvSpPr/>
          <p:nvPr/>
        </p:nvSpPr>
        <p:spPr>
          <a:xfrm>
            <a:off x="10232136" y="1737360"/>
            <a:ext cx="45720" cy="45720"/>
          </a:xfrm>
          <a:prstGeom prst="ellipse">
            <a:avLst/>
          </a:prstGeom>
          <a:solidFill>
            <a:srgbClr val="2C3B60"/>
          </a:solidFill>
          <a:ln/>
        </p:spPr>
      </p:sp>
      <p:sp>
        <p:nvSpPr>
          <p:cNvPr id="9" name="Shape 7"/>
          <p:cNvSpPr/>
          <p:nvPr/>
        </p:nvSpPr>
        <p:spPr>
          <a:xfrm>
            <a:off x="10524744" y="1737360"/>
            <a:ext cx="45720" cy="45720"/>
          </a:xfrm>
          <a:prstGeom prst="ellipse">
            <a:avLst/>
          </a:prstGeom>
          <a:solidFill>
            <a:srgbClr val="2C3B60"/>
          </a:solidFill>
          <a:ln/>
        </p:spPr>
      </p:sp>
      <p:sp>
        <p:nvSpPr>
          <p:cNvPr id="10" name="Shape 8"/>
          <p:cNvSpPr/>
          <p:nvPr/>
        </p:nvSpPr>
        <p:spPr>
          <a:xfrm>
            <a:off x="10817352" y="1737360"/>
            <a:ext cx="45720" cy="45720"/>
          </a:xfrm>
          <a:prstGeom prst="ellipse">
            <a:avLst/>
          </a:prstGeom>
          <a:solidFill>
            <a:srgbClr val="2C3B60"/>
          </a:solidFill>
          <a:ln/>
        </p:spPr>
      </p:sp>
      <p:sp>
        <p:nvSpPr>
          <p:cNvPr id="11" name="Shape 9"/>
          <p:cNvSpPr/>
          <p:nvPr/>
        </p:nvSpPr>
        <p:spPr>
          <a:xfrm>
            <a:off x="11109960" y="1737360"/>
            <a:ext cx="45720" cy="45720"/>
          </a:xfrm>
          <a:prstGeom prst="ellipse">
            <a:avLst/>
          </a:prstGeom>
          <a:solidFill>
            <a:srgbClr val="2C3B60"/>
          </a:solidFill>
          <a:ln/>
        </p:spPr>
      </p:sp>
      <p:sp>
        <p:nvSpPr>
          <p:cNvPr id="12" name="Shape 10"/>
          <p:cNvSpPr/>
          <p:nvPr/>
        </p:nvSpPr>
        <p:spPr>
          <a:xfrm>
            <a:off x="9646920" y="2029968"/>
            <a:ext cx="45720" cy="45720"/>
          </a:xfrm>
          <a:prstGeom prst="ellipse">
            <a:avLst/>
          </a:prstGeom>
          <a:solidFill>
            <a:srgbClr val="2C3B60"/>
          </a:solidFill>
          <a:ln/>
        </p:spPr>
      </p:sp>
      <p:sp>
        <p:nvSpPr>
          <p:cNvPr id="13" name="Shape 11"/>
          <p:cNvSpPr/>
          <p:nvPr/>
        </p:nvSpPr>
        <p:spPr>
          <a:xfrm>
            <a:off x="9939528" y="2029968"/>
            <a:ext cx="45720" cy="45720"/>
          </a:xfrm>
          <a:prstGeom prst="ellipse">
            <a:avLst/>
          </a:prstGeom>
          <a:solidFill>
            <a:srgbClr val="2C3B60"/>
          </a:solidFill>
          <a:ln/>
        </p:spPr>
      </p:sp>
      <p:sp>
        <p:nvSpPr>
          <p:cNvPr id="14" name="Shape 12"/>
          <p:cNvSpPr/>
          <p:nvPr/>
        </p:nvSpPr>
        <p:spPr>
          <a:xfrm>
            <a:off x="10232136" y="2029968"/>
            <a:ext cx="45720" cy="45720"/>
          </a:xfrm>
          <a:prstGeom prst="ellipse">
            <a:avLst/>
          </a:prstGeom>
          <a:solidFill>
            <a:srgbClr val="2C3B60"/>
          </a:solidFill>
          <a:ln/>
        </p:spPr>
      </p:sp>
      <p:sp>
        <p:nvSpPr>
          <p:cNvPr id="15" name="Shape 13"/>
          <p:cNvSpPr/>
          <p:nvPr/>
        </p:nvSpPr>
        <p:spPr>
          <a:xfrm>
            <a:off x="10524744" y="2029968"/>
            <a:ext cx="45720" cy="45720"/>
          </a:xfrm>
          <a:prstGeom prst="ellipse">
            <a:avLst/>
          </a:prstGeom>
          <a:solidFill>
            <a:srgbClr val="2C3B60"/>
          </a:solidFill>
          <a:ln/>
        </p:spPr>
      </p:sp>
      <p:sp>
        <p:nvSpPr>
          <p:cNvPr id="16" name="Shape 14"/>
          <p:cNvSpPr/>
          <p:nvPr/>
        </p:nvSpPr>
        <p:spPr>
          <a:xfrm>
            <a:off x="10817352" y="2029968"/>
            <a:ext cx="45720" cy="45720"/>
          </a:xfrm>
          <a:prstGeom prst="ellipse">
            <a:avLst/>
          </a:prstGeom>
          <a:solidFill>
            <a:srgbClr val="2C3B60"/>
          </a:solidFill>
          <a:ln/>
        </p:spPr>
      </p:sp>
      <p:sp>
        <p:nvSpPr>
          <p:cNvPr id="17" name="Shape 15"/>
          <p:cNvSpPr/>
          <p:nvPr/>
        </p:nvSpPr>
        <p:spPr>
          <a:xfrm>
            <a:off x="11109960" y="2029968"/>
            <a:ext cx="45720" cy="45720"/>
          </a:xfrm>
          <a:prstGeom prst="ellipse">
            <a:avLst/>
          </a:prstGeom>
          <a:solidFill>
            <a:srgbClr val="2C3B60"/>
          </a:solidFill>
          <a:ln/>
        </p:spPr>
      </p:sp>
      <p:sp>
        <p:nvSpPr>
          <p:cNvPr id="18" name="Shape 16"/>
          <p:cNvSpPr/>
          <p:nvPr/>
        </p:nvSpPr>
        <p:spPr>
          <a:xfrm>
            <a:off x="9646920" y="2322576"/>
            <a:ext cx="45720" cy="45720"/>
          </a:xfrm>
          <a:prstGeom prst="ellipse">
            <a:avLst/>
          </a:prstGeom>
          <a:solidFill>
            <a:srgbClr val="2C3B60"/>
          </a:solidFill>
          <a:ln/>
        </p:spPr>
      </p:sp>
      <p:sp>
        <p:nvSpPr>
          <p:cNvPr id="19" name="Shape 17"/>
          <p:cNvSpPr/>
          <p:nvPr/>
        </p:nvSpPr>
        <p:spPr>
          <a:xfrm>
            <a:off x="9939528" y="2322576"/>
            <a:ext cx="45720" cy="45720"/>
          </a:xfrm>
          <a:prstGeom prst="ellipse">
            <a:avLst/>
          </a:prstGeom>
          <a:solidFill>
            <a:srgbClr val="2C3B60"/>
          </a:solidFill>
          <a:ln/>
        </p:spPr>
      </p:sp>
      <p:sp>
        <p:nvSpPr>
          <p:cNvPr id="20" name="Shape 18"/>
          <p:cNvSpPr/>
          <p:nvPr/>
        </p:nvSpPr>
        <p:spPr>
          <a:xfrm>
            <a:off x="10232136" y="2322576"/>
            <a:ext cx="45720" cy="45720"/>
          </a:xfrm>
          <a:prstGeom prst="ellipse">
            <a:avLst/>
          </a:prstGeom>
          <a:solidFill>
            <a:srgbClr val="2C3B60"/>
          </a:solidFill>
          <a:ln/>
        </p:spPr>
      </p:sp>
      <p:sp>
        <p:nvSpPr>
          <p:cNvPr id="21" name="Shape 19"/>
          <p:cNvSpPr/>
          <p:nvPr/>
        </p:nvSpPr>
        <p:spPr>
          <a:xfrm>
            <a:off x="10524744" y="2322576"/>
            <a:ext cx="45720" cy="45720"/>
          </a:xfrm>
          <a:prstGeom prst="ellipse">
            <a:avLst/>
          </a:prstGeom>
          <a:solidFill>
            <a:srgbClr val="2C3B60"/>
          </a:solidFill>
          <a:ln/>
        </p:spPr>
      </p:sp>
      <p:sp>
        <p:nvSpPr>
          <p:cNvPr id="22" name="Shape 20"/>
          <p:cNvSpPr/>
          <p:nvPr/>
        </p:nvSpPr>
        <p:spPr>
          <a:xfrm>
            <a:off x="10817352" y="2322576"/>
            <a:ext cx="45720" cy="45720"/>
          </a:xfrm>
          <a:prstGeom prst="ellipse">
            <a:avLst/>
          </a:prstGeom>
          <a:solidFill>
            <a:srgbClr val="2C3B60"/>
          </a:solidFill>
          <a:ln/>
        </p:spPr>
      </p:sp>
      <p:sp>
        <p:nvSpPr>
          <p:cNvPr id="23" name="Shape 21"/>
          <p:cNvSpPr/>
          <p:nvPr/>
        </p:nvSpPr>
        <p:spPr>
          <a:xfrm>
            <a:off x="11109960" y="2322576"/>
            <a:ext cx="45720" cy="45720"/>
          </a:xfrm>
          <a:prstGeom prst="ellipse">
            <a:avLst/>
          </a:prstGeom>
          <a:solidFill>
            <a:srgbClr val="2C3B60"/>
          </a:solidFill>
          <a:ln/>
        </p:spPr>
      </p:sp>
      <p:sp>
        <p:nvSpPr>
          <p:cNvPr id="24" name="Shape 22"/>
          <p:cNvSpPr/>
          <p:nvPr/>
        </p:nvSpPr>
        <p:spPr>
          <a:xfrm>
            <a:off x="9646920" y="2615184"/>
            <a:ext cx="45720" cy="45720"/>
          </a:xfrm>
          <a:prstGeom prst="ellipse">
            <a:avLst/>
          </a:prstGeom>
          <a:solidFill>
            <a:srgbClr val="2C3B60"/>
          </a:solidFill>
          <a:ln/>
        </p:spPr>
      </p:sp>
      <p:sp>
        <p:nvSpPr>
          <p:cNvPr id="25" name="Shape 23"/>
          <p:cNvSpPr/>
          <p:nvPr/>
        </p:nvSpPr>
        <p:spPr>
          <a:xfrm>
            <a:off x="9939528" y="2615184"/>
            <a:ext cx="45720" cy="45720"/>
          </a:xfrm>
          <a:prstGeom prst="ellipse">
            <a:avLst/>
          </a:prstGeom>
          <a:solidFill>
            <a:srgbClr val="2C3B60"/>
          </a:solidFill>
          <a:ln/>
        </p:spPr>
      </p:sp>
      <p:sp>
        <p:nvSpPr>
          <p:cNvPr id="26" name="Shape 24"/>
          <p:cNvSpPr/>
          <p:nvPr/>
        </p:nvSpPr>
        <p:spPr>
          <a:xfrm>
            <a:off x="10232136" y="2615184"/>
            <a:ext cx="45720" cy="45720"/>
          </a:xfrm>
          <a:prstGeom prst="ellipse">
            <a:avLst/>
          </a:prstGeom>
          <a:solidFill>
            <a:srgbClr val="2C3B60"/>
          </a:solidFill>
          <a:ln/>
        </p:spPr>
      </p:sp>
      <p:sp>
        <p:nvSpPr>
          <p:cNvPr id="27" name="Shape 25"/>
          <p:cNvSpPr/>
          <p:nvPr/>
        </p:nvSpPr>
        <p:spPr>
          <a:xfrm>
            <a:off x="10524744" y="2615184"/>
            <a:ext cx="45720" cy="45720"/>
          </a:xfrm>
          <a:prstGeom prst="ellipse">
            <a:avLst/>
          </a:prstGeom>
          <a:solidFill>
            <a:srgbClr val="2C3B60"/>
          </a:solidFill>
          <a:ln/>
        </p:spPr>
      </p:sp>
      <p:sp>
        <p:nvSpPr>
          <p:cNvPr id="28" name="Shape 26"/>
          <p:cNvSpPr/>
          <p:nvPr/>
        </p:nvSpPr>
        <p:spPr>
          <a:xfrm>
            <a:off x="10817352" y="2615184"/>
            <a:ext cx="45720" cy="45720"/>
          </a:xfrm>
          <a:prstGeom prst="ellipse">
            <a:avLst/>
          </a:prstGeom>
          <a:solidFill>
            <a:srgbClr val="2C3B60"/>
          </a:solidFill>
          <a:ln/>
        </p:spPr>
      </p:sp>
      <p:sp>
        <p:nvSpPr>
          <p:cNvPr id="29" name="Shape 27"/>
          <p:cNvSpPr/>
          <p:nvPr/>
        </p:nvSpPr>
        <p:spPr>
          <a:xfrm>
            <a:off x="11109960" y="2615184"/>
            <a:ext cx="45720" cy="45720"/>
          </a:xfrm>
          <a:prstGeom prst="ellipse">
            <a:avLst/>
          </a:prstGeom>
          <a:solidFill>
            <a:srgbClr val="2C3B60"/>
          </a:solidFill>
          <a:ln/>
        </p:spPr>
      </p:sp>
      <p:sp>
        <p:nvSpPr>
          <p:cNvPr id="30" name="Shape 28"/>
          <p:cNvSpPr/>
          <p:nvPr/>
        </p:nvSpPr>
        <p:spPr>
          <a:xfrm>
            <a:off x="9646920" y="2907792"/>
            <a:ext cx="45720" cy="45720"/>
          </a:xfrm>
          <a:prstGeom prst="ellipse">
            <a:avLst/>
          </a:prstGeom>
          <a:solidFill>
            <a:srgbClr val="2C3B60"/>
          </a:solidFill>
          <a:ln/>
        </p:spPr>
      </p:sp>
      <p:sp>
        <p:nvSpPr>
          <p:cNvPr id="31" name="Shape 29"/>
          <p:cNvSpPr/>
          <p:nvPr/>
        </p:nvSpPr>
        <p:spPr>
          <a:xfrm>
            <a:off x="9939528" y="2907792"/>
            <a:ext cx="45720" cy="45720"/>
          </a:xfrm>
          <a:prstGeom prst="ellipse">
            <a:avLst/>
          </a:prstGeom>
          <a:solidFill>
            <a:srgbClr val="2C3B60"/>
          </a:solidFill>
          <a:ln/>
        </p:spPr>
      </p:sp>
      <p:sp>
        <p:nvSpPr>
          <p:cNvPr id="32" name="Shape 30"/>
          <p:cNvSpPr/>
          <p:nvPr/>
        </p:nvSpPr>
        <p:spPr>
          <a:xfrm>
            <a:off x="10232136" y="2907792"/>
            <a:ext cx="45720" cy="45720"/>
          </a:xfrm>
          <a:prstGeom prst="ellipse">
            <a:avLst/>
          </a:prstGeom>
          <a:solidFill>
            <a:srgbClr val="2C3B60"/>
          </a:solidFill>
          <a:ln/>
        </p:spPr>
      </p:sp>
      <p:sp>
        <p:nvSpPr>
          <p:cNvPr id="33" name="Shape 31"/>
          <p:cNvSpPr/>
          <p:nvPr/>
        </p:nvSpPr>
        <p:spPr>
          <a:xfrm>
            <a:off x="10524744" y="2907792"/>
            <a:ext cx="45720" cy="45720"/>
          </a:xfrm>
          <a:prstGeom prst="ellipse">
            <a:avLst/>
          </a:prstGeom>
          <a:solidFill>
            <a:srgbClr val="2C3B60"/>
          </a:solidFill>
          <a:ln/>
        </p:spPr>
      </p:sp>
      <p:sp>
        <p:nvSpPr>
          <p:cNvPr id="34" name="Shape 32"/>
          <p:cNvSpPr/>
          <p:nvPr/>
        </p:nvSpPr>
        <p:spPr>
          <a:xfrm>
            <a:off x="10817352" y="2907792"/>
            <a:ext cx="45720" cy="45720"/>
          </a:xfrm>
          <a:prstGeom prst="ellipse">
            <a:avLst/>
          </a:prstGeom>
          <a:solidFill>
            <a:srgbClr val="2C3B60"/>
          </a:solidFill>
          <a:ln/>
        </p:spPr>
      </p:sp>
      <p:sp>
        <p:nvSpPr>
          <p:cNvPr id="35" name="Shape 33"/>
          <p:cNvSpPr/>
          <p:nvPr/>
        </p:nvSpPr>
        <p:spPr>
          <a:xfrm>
            <a:off x="11109960" y="2907792"/>
            <a:ext cx="45720" cy="45720"/>
          </a:xfrm>
          <a:prstGeom prst="ellipse">
            <a:avLst/>
          </a:prstGeom>
          <a:solidFill>
            <a:srgbClr val="2C3B60"/>
          </a:solidFill>
          <a:ln/>
        </p:spPr>
      </p:sp>
      <p:sp>
        <p:nvSpPr>
          <p:cNvPr id="36" name="Shape 34"/>
          <p:cNvSpPr/>
          <p:nvPr/>
        </p:nvSpPr>
        <p:spPr>
          <a:xfrm>
            <a:off x="9646920" y="3200400"/>
            <a:ext cx="45720" cy="45720"/>
          </a:xfrm>
          <a:prstGeom prst="ellipse">
            <a:avLst/>
          </a:prstGeom>
          <a:solidFill>
            <a:srgbClr val="2C3B60"/>
          </a:solidFill>
          <a:ln/>
        </p:spPr>
      </p:sp>
      <p:sp>
        <p:nvSpPr>
          <p:cNvPr id="37" name="Shape 35"/>
          <p:cNvSpPr/>
          <p:nvPr/>
        </p:nvSpPr>
        <p:spPr>
          <a:xfrm>
            <a:off x="9939528" y="3200400"/>
            <a:ext cx="45720" cy="45720"/>
          </a:xfrm>
          <a:prstGeom prst="ellipse">
            <a:avLst/>
          </a:prstGeom>
          <a:solidFill>
            <a:srgbClr val="2C3B60"/>
          </a:solidFill>
          <a:ln/>
        </p:spPr>
      </p:sp>
      <p:sp>
        <p:nvSpPr>
          <p:cNvPr id="38" name="Shape 36"/>
          <p:cNvSpPr/>
          <p:nvPr/>
        </p:nvSpPr>
        <p:spPr>
          <a:xfrm>
            <a:off x="10232136" y="3200400"/>
            <a:ext cx="45720" cy="45720"/>
          </a:xfrm>
          <a:prstGeom prst="ellipse">
            <a:avLst/>
          </a:prstGeom>
          <a:solidFill>
            <a:srgbClr val="2C3B60"/>
          </a:solidFill>
          <a:ln/>
        </p:spPr>
      </p:sp>
      <p:sp>
        <p:nvSpPr>
          <p:cNvPr id="39" name="Shape 37"/>
          <p:cNvSpPr/>
          <p:nvPr/>
        </p:nvSpPr>
        <p:spPr>
          <a:xfrm>
            <a:off x="10524744" y="3200400"/>
            <a:ext cx="45720" cy="45720"/>
          </a:xfrm>
          <a:prstGeom prst="ellipse">
            <a:avLst/>
          </a:prstGeom>
          <a:solidFill>
            <a:srgbClr val="2C3B60"/>
          </a:solidFill>
          <a:ln/>
        </p:spPr>
      </p:sp>
      <p:sp>
        <p:nvSpPr>
          <p:cNvPr id="40" name="Shape 38"/>
          <p:cNvSpPr/>
          <p:nvPr/>
        </p:nvSpPr>
        <p:spPr>
          <a:xfrm>
            <a:off x="10817352" y="3200400"/>
            <a:ext cx="45720" cy="45720"/>
          </a:xfrm>
          <a:prstGeom prst="ellipse">
            <a:avLst/>
          </a:prstGeom>
          <a:solidFill>
            <a:srgbClr val="2C3B60"/>
          </a:solidFill>
          <a:ln/>
        </p:spPr>
      </p:sp>
      <p:sp>
        <p:nvSpPr>
          <p:cNvPr id="41" name="Shape 39"/>
          <p:cNvSpPr/>
          <p:nvPr/>
        </p:nvSpPr>
        <p:spPr>
          <a:xfrm>
            <a:off x="11109960" y="3200400"/>
            <a:ext cx="45720" cy="45720"/>
          </a:xfrm>
          <a:prstGeom prst="ellipse">
            <a:avLst/>
          </a:prstGeom>
          <a:solidFill>
            <a:srgbClr val="2C3B60"/>
          </a:solidFill>
          <a:ln/>
        </p:spPr>
      </p:sp>
      <p:sp>
        <p:nvSpPr>
          <p:cNvPr id="42" name="Shape 40"/>
          <p:cNvSpPr/>
          <p:nvPr/>
        </p:nvSpPr>
        <p:spPr>
          <a:xfrm>
            <a:off x="10177272" y="2560320"/>
            <a:ext cx="219456" cy="219456"/>
          </a:xfrm>
          <a:prstGeom prst="rect">
            <a:avLst/>
          </a:prstGeom>
          <a:solidFill>
            <a:srgbClr val="C9822B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8A5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 1 · DOMAIN &amp; PROBLEM DEFINITION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89888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fabricated screenshot is trivial to make and easy to believe.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3429000" cy="1691640"/>
          </a:xfrm>
          <a:prstGeom prst="roundRect">
            <a:avLst>
              <a:gd name="adj" fmla="val 4324"/>
            </a:avLst>
          </a:prstGeom>
          <a:solidFill>
            <a:srgbClr val="F4F5F7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2286000"/>
            <a:ext cx="329184" cy="329184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77240" y="227685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69748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scams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2999232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doctored “payment sent” chat screenshot convinces a seller to hand over goods before any money moves.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206240" y="2057400"/>
            <a:ext cx="3429000" cy="1691640"/>
          </a:xfrm>
          <a:prstGeom prst="roundRect">
            <a:avLst>
              <a:gd name="adj" fmla="val 4324"/>
            </a:avLst>
          </a:prstGeom>
          <a:solidFill>
            <a:srgbClr val="F4F5F7"/>
          </a:solidFill>
          <a:ln/>
        </p:spPr>
      </p:sp>
      <p:sp>
        <p:nvSpPr>
          <p:cNvPr id="11" name="Shape 9"/>
          <p:cNvSpPr/>
          <p:nvPr/>
        </p:nvSpPr>
        <p:spPr>
          <a:xfrm>
            <a:off x="4434840" y="2286000"/>
            <a:ext cx="329184" cy="329184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434840" y="227685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4434840" y="269748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Fabricated evidence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4434840" y="2999232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Edited chat logs are submitted as “proof” in disputes, harassment claims, or workplace conflicts.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863840" y="2057400"/>
            <a:ext cx="3429000" cy="1691640"/>
          </a:xfrm>
          <a:prstGeom prst="roundRect">
            <a:avLst>
              <a:gd name="adj" fmla="val 4324"/>
            </a:avLst>
          </a:prstGeom>
          <a:solidFill>
            <a:srgbClr val="F4F5F7"/>
          </a:solidFill>
          <a:ln/>
        </p:spPr>
      </p:sp>
      <p:sp>
        <p:nvSpPr>
          <p:cNvPr id="16" name="Shape 14"/>
          <p:cNvSpPr/>
          <p:nvPr/>
        </p:nvSpPr>
        <p:spPr>
          <a:xfrm>
            <a:off x="8092440" y="2286000"/>
            <a:ext cx="329184" cy="329184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092440" y="227685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8092440" y="269748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 &amp; rental fraud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8092440" y="2999232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fake bank statement with an inflated balance is used to pass an income or affordability check.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48640" y="3977640"/>
            <a:ext cx="11094415" cy="1691640"/>
          </a:xfrm>
          <a:prstGeom prst="roundRect">
            <a:avLst>
              <a:gd name="adj" fmla="val 4324"/>
            </a:avLst>
          </a:prstGeom>
          <a:solidFill>
            <a:srgbClr val="1B2A4A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68680" y="3977640"/>
            <a:ext cx="10454335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Manual review doesn’t scale and isn’t reliable — the human eye cannot see JPEG recompression artifacts, hidden metadata, or a rewritten pixel block. This project builds an automated, explainable tool to catch what manual review misses.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651052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SCREENSHOT DETECTOR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11094415" y="651052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8A5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 1 · DOMAIN &amp; PROBLEM DEFINITION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Screenshots Are a Harder Case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89888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 image forensics was built for natural photographs. UI screenshots break its assumptions.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5166360" cy="3383280"/>
          </a:xfrm>
          <a:prstGeom prst="roundRect">
            <a:avLst>
              <a:gd name="adj" fmla="val 2162"/>
            </a:avLst>
          </a:prstGeom>
          <a:solidFill>
            <a:srgbClr val="F4F5F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2377440"/>
            <a:ext cx="4617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Photographs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679192"/>
            <a:ext cx="461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domain classical forensics was built for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108960"/>
            <a:ext cx="461772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5000"/>
              </a:lnSpc>
              <a:spcAft>
                <a:spcPts val="2160"/>
              </a:spcAft>
              <a:buSzPct val="100000"/>
              <a:buChar char="—"/>
            </a:pPr>
            <a:r>
              <a:rPr lang="en-US" sz="11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sensor noise (PRNU) present</a:t>
            </a:r>
            <a:endParaRPr lang="en-US" sz="1100" dirty="0"/>
          </a:p>
          <a:p>
            <a:pPr marL="177800" indent="-177800">
              <a:lnSpc>
                <a:spcPct val="115000"/>
              </a:lnSpc>
              <a:spcAft>
                <a:spcPts val="2160"/>
              </a:spcAft>
              <a:buSzPct val="100000"/>
              <a:buChar char="—"/>
            </a:pPr>
            <a:r>
              <a:rPr lang="en-US" sz="11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Organic texture and gradients throughout</a:t>
            </a:r>
            <a:endParaRPr lang="en-US" sz="1100" dirty="0"/>
          </a:p>
          <a:p>
            <a:pPr marL="177800" indent="-177800">
              <a:lnSpc>
                <a:spcPct val="115000"/>
              </a:lnSpc>
              <a:spcAft>
                <a:spcPts val="2160"/>
              </a:spcAft>
              <a:buSzPct val="100000"/>
              <a:buChar char="—"/>
            </a:pPr>
            <a:r>
              <a:rPr lang="en-US" sz="11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Usually one, traceable JPEG generation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989320" y="2148840"/>
            <a:ext cx="5166360" cy="3383280"/>
          </a:xfrm>
          <a:prstGeom prst="roundRect">
            <a:avLst>
              <a:gd name="adj" fmla="val 2162"/>
            </a:avLst>
          </a:prstGeom>
          <a:solidFill>
            <a:srgbClr val="1B2A4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263640" y="2377440"/>
            <a:ext cx="4617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Screenshots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263640" y="2679192"/>
            <a:ext cx="461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project actually has to work with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6263640" y="3108960"/>
            <a:ext cx="461772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5000"/>
              </a:lnSpc>
              <a:spcAft>
                <a:spcPts val="2160"/>
              </a:spcAft>
              <a:buSzPct val="100000"/>
              <a:buChar char="—"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camera sensor — PRNU analysis doesn’t apply</a:t>
            </a:r>
            <a:endParaRPr lang="en-US" sz="1100" dirty="0"/>
          </a:p>
          <a:p>
            <a:pPr marL="177800" indent="-177800">
              <a:lnSpc>
                <a:spcPct val="115000"/>
              </a:lnSpc>
              <a:spcAft>
                <a:spcPts val="2160"/>
              </a:spcAft>
              <a:buSzPct val="100000"/>
              <a:buChar char="—"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 colors, vector-like UI, little organic texture</a:t>
            </a:r>
            <a:endParaRPr lang="en-US" sz="1100" dirty="0"/>
          </a:p>
          <a:p>
            <a:pPr marL="177800" indent="-177800">
              <a:lnSpc>
                <a:spcPct val="115000"/>
              </a:lnSpc>
              <a:spcAft>
                <a:spcPts val="2160"/>
              </a:spcAft>
              <a:buSzPct val="100000"/>
              <a:buChar char="—"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Often re-exported/re-compressed, or pure PNG</a:t>
            </a:r>
            <a:endParaRPr lang="en-US" sz="1100" dirty="0"/>
          </a:p>
          <a:p>
            <a:pPr marL="177800" indent="-177800">
              <a:lnSpc>
                <a:spcPct val="115000"/>
              </a:lnSpc>
              <a:spcAft>
                <a:spcPts val="2160"/>
              </a:spcAft>
              <a:buSzPct val="100000"/>
              <a:buChar char="—"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Now: 8 distinct UI layouts — chat, bank, payment, social, e-commerce, email, notification, crypto — each with its own visual grammar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571500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Assumptions &amp; constraints:   single uploaded image   ·   PNG / JPG / WEBP   ·   ≤10 MB   ·   no ground-truth original to compare against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651052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SCREENSHOT DETECTOR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11094415" y="651052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8A5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 2 · LITERATURE REVIEW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Existing Approaches &amp; Their Gaps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1094415" cy="384048"/>
          </a:xfrm>
          <a:prstGeom prst="roundRect">
            <a:avLst>
              <a:gd name="adj" fmla="val 19048"/>
            </a:avLst>
          </a:prstGeom>
          <a:solidFill>
            <a:srgbClr val="1B2A4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78308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TECHNIQUE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3703320" y="1783080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7086600" y="1783080"/>
            <a:ext cx="45107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 FOR SCREENSHOTS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2167128"/>
            <a:ext cx="2651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Level Analysis (ELA)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3703320" y="2167128"/>
            <a:ext cx="3017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Recompresses the image and diffs against the original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7040880" y="2167128"/>
            <a:ext cx="455645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8A5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on flat / vector-style UI content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48640" y="2788920"/>
            <a:ext cx="11094415" cy="621792"/>
          </a:xfrm>
          <a:prstGeom prst="roundRect">
            <a:avLst/>
          </a:prstGeom>
          <a:solidFill>
            <a:srgbClr val="F4F5F7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85800" y="2788920"/>
            <a:ext cx="2651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JPEG Ghost (Farid)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3703320" y="2788920"/>
            <a:ext cx="3017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Multi-quality recompression scan finds a region’s native quality</a:t>
            </a:r>
            <a:endParaRPr lang="en-US" sz="950" dirty="0"/>
          </a:p>
        </p:txBody>
      </p:sp>
      <p:sp>
        <p:nvSpPr>
          <p:cNvPr id="14" name="Text 12"/>
          <p:cNvSpPr txBox="1"/>
          <p:nvPr/>
        </p:nvSpPr>
        <p:spPr>
          <a:xfrm>
            <a:off x="7040880" y="2788920"/>
            <a:ext cx="455645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8A5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flat-content weakness as ELA</a:t>
            </a:r>
            <a:endParaRPr lang="en-US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685800" y="3410712"/>
            <a:ext cx="2651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Copy-Move / Clone Detection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3703320" y="3410712"/>
            <a:ext cx="3017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Block-matching finds duplicated, pasted regions</a:t>
            </a:r>
            <a:endParaRPr lang="en-US" sz="950" dirty="0"/>
          </a:p>
        </p:txBody>
      </p:sp>
      <p:sp>
        <p:nvSpPr>
          <p:cNvPr id="17" name="Text 15"/>
          <p:cNvSpPr txBox="1"/>
          <p:nvPr/>
        </p:nvSpPr>
        <p:spPr>
          <a:xfrm>
            <a:off x="7040880" y="3410712"/>
            <a:ext cx="455645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8A5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positives on repeated UI icons &amp; bullets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48640" y="4032504"/>
            <a:ext cx="11094415" cy="621792"/>
          </a:xfrm>
          <a:prstGeom prst="roundRect">
            <a:avLst/>
          </a:prstGeom>
          <a:solidFill>
            <a:srgbClr val="F4F5F7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85800" y="4032504"/>
            <a:ext cx="2651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PRNU Sensor-Noise Analysis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3703320" y="4032504"/>
            <a:ext cx="3017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Matches camera sensor noise fingerprints</a:t>
            </a:r>
            <a:endParaRPr lang="en-US" sz="950" dirty="0"/>
          </a:p>
        </p:txBody>
      </p:sp>
      <p:sp>
        <p:nvSpPr>
          <p:cNvPr id="21" name="Text 19"/>
          <p:cNvSpPr txBox="1"/>
          <p:nvPr/>
        </p:nvSpPr>
        <p:spPr>
          <a:xfrm>
            <a:off x="7040880" y="4032504"/>
            <a:ext cx="455645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8A5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not apply — screenshots have no camera sensor</a:t>
            </a:r>
            <a:endParaRPr lang="en-US" sz="950" dirty="0"/>
          </a:p>
        </p:txBody>
      </p:sp>
      <p:sp>
        <p:nvSpPr>
          <p:cNvPr id="22" name="Text 20"/>
          <p:cNvSpPr txBox="1"/>
          <p:nvPr/>
        </p:nvSpPr>
        <p:spPr>
          <a:xfrm>
            <a:off x="685800" y="4654296"/>
            <a:ext cx="2651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/ Deep Learning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3703320" y="4654296"/>
            <a:ext cx="3017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Strongest results in current literature</a:t>
            </a:r>
            <a:endParaRPr lang="en-US" sz="950" dirty="0"/>
          </a:p>
        </p:txBody>
      </p:sp>
      <p:sp>
        <p:nvSpPr>
          <p:cNvPr id="24" name="Text 22"/>
          <p:cNvSpPr txBox="1"/>
          <p:nvPr/>
        </p:nvSpPr>
        <p:spPr>
          <a:xfrm>
            <a:off x="7040880" y="4654296"/>
            <a:ext cx="455645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8A5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large labeled datasets — none exist for screenshots</a:t>
            </a:r>
            <a:endParaRPr lang="en-US" sz="950" dirty="0"/>
          </a:p>
        </p:txBody>
      </p:sp>
      <p:sp>
        <p:nvSpPr>
          <p:cNvPr id="25" name="Text 23"/>
          <p:cNvSpPr txBox="1"/>
          <p:nvPr/>
        </p:nvSpPr>
        <p:spPr>
          <a:xfrm>
            <a:off x="548640" y="651052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SCREENSHOT DETECTOR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11094415" y="651052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8A5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 2 · LITERATURE REVIEW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Gap We Identified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89888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of the classical pixel-level methods can read what a document actually says — they only see how its bytes were compressed.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5166360" cy="2148840"/>
          </a:xfrm>
          <a:prstGeom prst="roundRect">
            <a:avLst>
              <a:gd name="adj" fmla="val 3404"/>
            </a:avLst>
          </a:prstGeom>
          <a:solidFill>
            <a:srgbClr val="F4F5F7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2560320"/>
            <a:ext cx="365760" cy="36576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25511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325880" y="2560320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labeled screenshot dataset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108960"/>
            <a:ext cx="4617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public dataset of labeled real/fake chat or bank-statement screenshots exists — confirmed while building this project. CNN approaches need exactly this data.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080760" y="2286000"/>
            <a:ext cx="5166360" cy="2148840"/>
          </a:xfrm>
          <a:prstGeom prst="roundRect">
            <a:avLst>
              <a:gd name="adj" fmla="val 3404"/>
            </a:avLst>
          </a:prstGeom>
          <a:solidFill>
            <a:srgbClr val="F4F5F7"/>
          </a:solidFill>
          <a:ln/>
        </p:spPr>
      </p:sp>
      <p:sp>
        <p:nvSpPr>
          <p:cNvPr id="11" name="Shape 9"/>
          <p:cNvSpPr/>
          <p:nvPr/>
        </p:nvSpPr>
        <p:spPr>
          <a:xfrm>
            <a:off x="6355080" y="2560320"/>
            <a:ext cx="365760" cy="36576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355080" y="25511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6858000" y="2560320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Pixels aren’t the whole story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6355080" y="3108960"/>
            <a:ext cx="4617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fake-statement-generator watermark or a placeholder name like “John Doe” is invisible to ELA, noise analysis, or clone detection — but conclusive the moment it’s read.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48640" y="4709160"/>
            <a:ext cx="11094415" cy="1051560"/>
          </a:xfrm>
          <a:prstGeom prst="roundRect">
            <a:avLst>
              <a:gd name="adj" fmla="val 6957"/>
            </a:avLst>
          </a:prstGeom>
          <a:solidFill>
            <a:srgbClr val="F3E4CC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22960" y="4709160"/>
            <a:ext cx="1054577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i="1" dirty="0">
                <a:solidFill>
                  <a:srgbClr val="3E2C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since Review 1: this gap is narrowed, not closed. tools/synthesize_dataset.py now procedurally generates a labeled corpus across 8 screenshot categories — a real, on-disk, trainable dataset — but it is still procedurally generated, not real-world data. See Parameter 5 &amp; 6.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651052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SCREENSHOT DETECTOR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11094415" y="651052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8A5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 3 · OBJECTIVES &amp; SCOPE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10896" cy="310896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8196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987552" y="1792224"/>
            <a:ext cx="1065550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multiple forensic signals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987552" y="2075688"/>
            <a:ext cx="10655503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Don’t rely on one weak cue — fuse eleven independent pixel-, metadata-, and text-level signals into one assessment.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48640" y="2724912"/>
            <a:ext cx="310896" cy="310896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27157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987552" y="2688336"/>
            <a:ext cx="1065550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text-understanding signal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987552" y="2971800"/>
            <a:ext cx="10655503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the pipeline a way to read a document, not just measure its compression — something pixel forensics alone cannot do.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48640" y="3621024"/>
            <a:ext cx="310896" cy="310896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48640" y="36118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987552" y="3584448"/>
            <a:ext cx="1065550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 to the content domain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987552" y="3867912"/>
            <a:ext cx="10655503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Recognize that a bank statement, a social post, and a photo need different evidence thresholds — not one global cutoff for everything.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4517136"/>
            <a:ext cx="310896" cy="310896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48640" y="45079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987552" y="4480560"/>
            <a:ext cx="1065550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 explainable, not a black box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987552" y="4764024"/>
            <a:ext cx="10655503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verdict comes with a transparent per-cue score breakdown and, when relevant, an explicit override reason.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48640" y="5413248"/>
            <a:ext cx="310896" cy="310896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48640" y="5404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987552" y="5376672"/>
            <a:ext cx="1065550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 as a usable web app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987552" y="5660136"/>
            <a:ext cx="10655503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 upload-and-analyze tool, not just a notebook — deployable with Docker Compose.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651052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SCREENSHOT DETECTOR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11094415" y="651052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8A5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 3 · OBJECTIVES &amp; SCOPE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Scope &amp; Expected Outcomes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5166360" cy="3840480"/>
          </a:xfrm>
          <a:prstGeom prst="roundRect">
            <a:avLst>
              <a:gd name="adj" fmla="val 1905"/>
            </a:avLst>
          </a:prstGeom>
          <a:solidFill>
            <a:srgbClr val="F4F5F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2148840"/>
            <a:ext cx="461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8A5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450592"/>
            <a:ext cx="4617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scoped-down MVP — not the full 6-month production system described in the original design.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063240"/>
            <a:ext cx="461772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5000"/>
              </a:lnSpc>
              <a:spcAft>
                <a:spcPts val="2160"/>
              </a:spcAft>
              <a:buSzPct val="100000"/>
              <a:buChar char="—"/>
            </a:pPr>
            <a:r>
              <a:rPr lang="en-US" sz="11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Single-image analysis via web upload</a:t>
            </a:r>
            <a:endParaRPr lang="en-US" sz="1100" dirty="0"/>
          </a:p>
          <a:p>
            <a:pPr marL="177800" indent="-177800">
              <a:lnSpc>
                <a:spcPct val="115000"/>
              </a:lnSpc>
              <a:spcAft>
                <a:spcPts val="2160"/>
              </a:spcAft>
              <a:buSzPct val="100000"/>
              <a:buChar char="—"/>
            </a:pPr>
            <a:r>
              <a:rPr lang="en-US" sz="11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PNG, JPG, WEBP — up to 10 MB</a:t>
            </a:r>
            <a:endParaRPr lang="en-US" sz="1100" dirty="0"/>
          </a:p>
          <a:p>
            <a:pPr marL="177800" indent="-177800">
              <a:lnSpc>
                <a:spcPct val="115000"/>
              </a:lnSpc>
              <a:spcAft>
                <a:spcPts val="2160"/>
              </a:spcAft>
              <a:buSzPct val="100000"/>
              <a:buChar char="—"/>
            </a:pPr>
            <a:r>
              <a:rPr lang="en-US" sz="11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Eight target categories: chat, bank, payment, social, e-commerce, email, notification, crypto</a:t>
            </a:r>
            <a:endParaRPr lang="en-US" sz="1100" dirty="0"/>
          </a:p>
          <a:p>
            <a:pPr marL="177800" indent="-177800">
              <a:lnSpc>
                <a:spcPct val="115000"/>
              </a:lnSpc>
              <a:spcAft>
                <a:spcPts val="2160"/>
              </a:spcAft>
              <a:buSzPct val="100000"/>
              <a:buChar char="—"/>
            </a:pPr>
            <a:r>
              <a:rPr lang="en-US" sz="11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CNN, no cloud deployment, no auth (by design)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989320" y="1920240"/>
            <a:ext cx="5166360" cy="3840480"/>
          </a:xfrm>
          <a:prstGeom prst="roundRect">
            <a:avLst>
              <a:gd name="adj" fmla="val 1905"/>
            </a:avLst>
          </a:prstGeom>
          <a:solidFill>
            <a:srgbClr val="1B2A4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263640" y="2148840"/>
            <a:ext cx="461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E8B8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OUTCOMES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263640" y="2560320"/>
            <a:ext cx="461772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5000"/>
              </a:lnSpc>
              <a:spcAft>
                <a:spcPts val="2160"/>
              </a:spcAft>
              <a:buSzPct val="100000"/>
              <a:buChar char="—"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Flask API + React frontend</a:t>
            </a:r>
            <a:endParaRPr lang="en-US" sz="1100" dirty="0"/>
          </a:p>
          <a:p>
            <a:pPr marL="177800" indent="-177800">
              <a:lnSpc>
                <a:spcPct val="115000"/>
              </a:lnSpc>
              <a:spcAft>
                <a:spcPts val="2160"/>
              </a:spcAft>
              <a:buSzPct val="100000"/>
              <a:buChar char="—"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 heatmap visualization, side by side with original</a:t>
            </a:r>
            <a:endParaRPr lang="en-US" sz="1100" dirty="0"/>
          </a:p>
          <a:p>
            <a:pPr marL="177800" indent="-177800">
              <a:lnSpc>
                <a:spcPct val="115000"/>
              </a:lnSpc>
              <a:spcAft>
                <a:spcPts val="2160"/>
              </a:spcAft>
              <a:buSzPct val="100000"/>
              <a:buChar char="—"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Downloadable JSON report per analysis</a:t>
            </a:r>
            <a:endParaRPr lang="en-US" sz="1100" dirty="0"/>
          </a:p>
          <a:p>
            <a:pPr marL="177800" indent="-177800">
              <a:lnSpc>
                <a:spcPct val="115000"/>
              </a:lnSpc>
              <a:spcAft>
                <a:spcPts val="2160"/>
              </a:spcAft>
              <a:buSzPct val="100000"/>
              <a:buChar char="—"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classifier with documented, measured accuracy</a:t>
            </a:r>
            <a:endParaRPr lang="en-US" sz="1100" dirty="0"/>
          </a:p>
          <a:p>
            <a:pPr marL="177800" indent="-177800">
              <a:lnSpc>
                <a:spcPct val="115000"/>
              </a:lnSpc>
              <a:spcAft>
                <a:spcPts val="2160"/>
              </a:spcAft>
              <a:buSzPct val="100000"/>
              <a:buChar char="—"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Per-domain thresholds and a labeled synthetic corpus to validate against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651052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SCREENSHOT DETECTOR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11094415" y="651052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8A5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 4 · PROPOSED METHODOLOGY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Eleven Forensic Cues, Computed Per Image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 core cues from photograph forensics, plus four cues specific to rendered UI — added and empirically calibrated this phase.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7830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CUES (7)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48640" y="2084832"/>
            <a:ext cx="3337560" cy="896112"/>
          </a:xfrm>
          <a:prstGeom prst="roundRect">
            <a:avLst>
              <a:gd name="adj" fmla="val 8163"/>
            </a:avLst>
          </a:prstGeom>
          <a:solidFill>
            <a:srgbClr val="F4F5F7"/>
          </a:solidFill>
          <a:ln/>
        </p:spPr>
      </p:sp>
      <p:sp>
        <p:nvSpPr>
          <p:cNvPr id="7" name="Shape 5"/>
          <p:cNvSpPr/>
          <p:nvPr/>
        </p:nvSpPr>
        <p:spPr>
          <a:xfrm>
            <a:off x="713232" y="2231136"/>
            <a:ext cx="292608" cy="292608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13232" y="222199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097280" y="219456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713232" y="2523744"/>
            <a:ext cx="30266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Recompression-error hotspots vs. local neighborhood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023360" y="2084832"/>
            <a:ext cx="3337560" cy="896112"/>
          </a:xfrm>
          <a:prstGeom prst="roundRect">
            <a:avLst>
              <a:gd name="adj" fmla="val 8163"/>
            </a:avLst>
          </a:prstGeom>
          <a:solidFill>
            <a:srgbClr val="F4F5F7"/>
          </a:solidFill>
          <a:ln/>
        </p:spPr>
      </p:sp>
      <p:sp>
        <p:nvSpPr>
          <p:cNvPr id="12" name="Shape 10"/>
          <p:cNvSpPr/>
          <p:nvPr/>
        </p:nvSpPr>
        <p:spPr>
          <a:xfrm>
            <a:off x="4187952" y="2231136"/>
            <a:ext cx="292608" cy="292608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187952" y="222199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0" y="219456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JPEG Ghost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4187952" y="2523744"/>
            <a:ext cx="30266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Native-quality dip scan — shown, excluded from score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7498080" y="2084832"/>
            <a:ext cx="3337560" cy="896112"/>
          </a:xfrm>
          <a:prstGeom prst="roundRect">
            <a:avLst>
              <a:gd name="adj" fmla="val 8163"/>
            </a:avLst>
          </a:prstGeom>
          <a:solidFill>
            <a:srgbClr val="F4F5F7"/>
          </a:solidFill>
          <a:ln/>
        </p:spPr>
      </p:sp>
      <p:sp>
        <p:nvSpPr>
          <p:cNvPr id="17" name="Shape 15"/>
          <p:cNvSpPr/>
          <p:nvPr/>
        </p:nvSpPr>
        <p:spPr>
          <a:xfrm>
            <a:off x="7662672" y="2231136"/>
            <a:ext cx="292608" cy="292608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662672" y="222199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8046720" y="219456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Quantization Tables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7662672" y="2523744"/>
            <a:ext cx="30266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 multiple compression generations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48640" y="3099816"/>
            <a:ext cx="3337560" cy="896112"/>
          </a:xfrm>
          <a:prstGeom prst="roundRect">
            <a:avLst>
              <a:gd name="adj" fmla="val 8163"/>
            </a:avLst>
          </a:prstGeom>
          <a:solidFill>
            <a:srgbClr val="F4F5F7"/>
          </a:solidFill>
          <a:ln/>
        </p:spPr>
      </p:sp>
      <p:sp>
        <p:nvSpPr>
          <p:cNvPr id="22" name="Shape 20"/>
          <p:cNvSpPr/>
          <p:nvPr/>
        </p:nvSpPr>
        <p:spPr>
          <a:xfrm>
            <a:off x="713232" y="3246120"/>
            <a:ext cx="292608" cy="292608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13232" y="32369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1097280" y="3209544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EXIF / Metadata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713232" y="3538728"/>
            <a:ext cx="30266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Editing-tool tags, camera EXIF, GPS — top signal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023360" y="3099816"/>
            <a:ext cx="3337560" cy="896112"/>
          </a:xfrm>
          <a:prstGeom prst="roundRect">
            <a:avLst>
              <a:gd name="adj" fmla="val 8163"/>
            </a:avLst>
          </a:prstGeom>
          <a:solidFill>
            <a:srgbClr val="F4F5F7"/>
          </a:solidFill>
          <a:ln/>
        </p:spPr>
      </p:sp>
      <p:sp>
        <p:nvSpPr>
          <p:cNvPr id="27" name="Shape 25"/>
          <p:cNvSpPr/>
          <p:nvPr/>
        </p:nvSpPr>
        <p:spPr>
          <a:xfrm>
            <a:off x="4187952" y="3246120"/>
            <a:ext cx="292608" cy="292608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4187952" y="32369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4572000" y="3209544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Text (OCR)</a:t>
            </a:r>
            <a:endParaRPr lang="en-US" sz="1150" dirty="0"/>
          </a:p>
        </p:txBody>
      </p:sp>
      <p:sp>
        <p:nvSpPr>
          <p:cNvPr id="30" name="Text 28"/>
          <p:cNvSpPr txBox="1"/>
          <p:nvPr/>
        </p:nvSpPr>
        <p:spPr>
          <a:xfrm>
            <a:off x="4187952" y="3538728"/>
            <a:ext cx="30266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watermarks &amp; placeholder data — top signal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7498080" y="3099816"/>
            <a:ext cx="3337560" cy="896112"/>
          </a:xfrm>
          <a:prstGeom prst="roundRect">
            <a:avLst>
              <a:gd name="adj" fmla="val 8163"/>
            </a:avLst>
          </a:prstGeom>
          <a:solidFill>
            <a:srgbClr val="F4F5F7"/>
          </a:solidFill>
          <a:ln/>
        </p:spPr>
      </p:sp>
      <p:sp>
        <p:nvSpPr>
          <p:cNvPr id="32" name="Shape 30"/>
          <p:cNvSpPr/>
          <p:nvPr/>
        </p:nvSpPr>
        <p:spPr>
          <a:xfrm>
            <a:off x="7662672" y="3246120"/>
            <a:ext cx="292608" cy="292608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7662672" y="32369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8046720" y="3209544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Noise Consistency</a:t>
            </a:r>
            <a:endParaRPr lang="en-US" sz="1150" dirty="0"/>
          </a:p>
        </p:txBody>
      </p:sp>
      <p:sp>
        <p:nvSpPr>
          <p:cNvPr id="35" name="Text 33"/>
          <p:cNvSpPr txBox="1"/>
          <p:nvPr/>
        </p:nvSpPr>
        <p:spPr>
          <a:xfrm>
            <a:off x="7662672" y="3538728"/>
            <a:ext cx="30266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noise-energy outliers across blocks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548640" y="4114800"/>
            <a:ext cx="3337560" cy="896112"/>
          </a:xfrm>
          <a:prstGeom prst="roundRect">
            <a:avLst>
              <a:gd name="adj" fmla="val 8163"/>
            </a:avLst>
          </a:prstGeom>
          <a:solidFill>
            <a:srgbClr val="F4F5F7"/>
          </a:solidFill>
          <a:ln/>
        </p:spPr>
      </p:sp>
      <p:sp>
        <p:nvSpPr>
          <p:cNvPr id="37" name="Shape 35"/>
          <p:cNvSpPr/>
          <p:nvPr/>
        </p:nvSpPr>
        <p:spPr>
          <a:xfrm>
            <a:off x="713232" y="4261104"/>
            <a:ext cx="292608" cy="292608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713232" y="42519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300" dirty="0"/>
          </a:p>
        </p:txBody>
      </p:sp>
      <p:sp>
        <p:nvSpPr>
          <p:cNvPr id="39" name="Text 37"/>
          <p:cNvSpPr txBox="1"/>
          <p:nvPr/>
        </p:nvSpPr>
        <p:spPr>
          <a:xfrm>
            <a:off x="1097280" y="422452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Copy-Move Detection</a:t>
            </a:r>
            <a:endParaRPr lang="en-US" sz="1150" dirty="0"/>
          </a:p>
        </p:txBody>
      </p:sp>
      <p:sp>
        <p:nvSpPr>
          <p:cNvPr id="40" name="Text 38"/>
          <p:cNvSpPr txBox="1"/>
          <p:nvPr/>
        </p:nvSpPr>
        <p:spPr>
          <a:xfrm>
            <a:off x="713232" y="4553712"/>
            <a:ext cx="30266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Offset-vector voting + compactness gate</a:t>
            </a:r>
            <a:endParaRPr lang="en-US" sz="850" dirty="0"/>
          </a:p>
        </p:txBody>
      </p:sp>
      <p:sp>
        <p:nvSpPr>
          <p:cNvPr id="41" name="Text 39"/>
          <p:cNvSpPr txBox="1"/>
          <p:nvPr/>
        </p:nvSpPr>
        <p:spPr>
          <a:xfrm>
            <a:off x="548640" y="512064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8A5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NEW: SCREENSHOT-SPECIFIC CUES (4) — SEE NEXT SLIDE FOR THE EVIDENCE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548640" y="5440680"/>
            <a:ext cx="2560320" cy="777240"/>
          </a:xfrm>
          <a:prstGeom prst="roundRect">
            <a:avLst>
              <a:gd name="adj" fmla="val 9412"/>
            </a:avLst>
          </a:prstGeom>
          <a:solidFill>
            <a:srgbClr val="F3E4CC"/>
          </a:solidFill>
          <a:ln/>
        </p:spPr>
      </p:sp>
      <p:sp>
        <p:nvSpPr>
          <p:cNvPr id="43" name="Text 41"/>
          <p:cNvSpPr txBox="1"/>
          <p:nvPr/>
        </p:nvSpPr>
        <p:spPr>
          <a:xfrm>
            <a:off x="685800" y="553212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E2C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Amount Consistency</a:t>
            </a:r>
            <a:endParaRPr lang="en-US" sz="1050" dirty="0"/>
          </a:p>
        </p:txBody>
      </p:sp>
      <p:sp>
        <p:nvSpPr>
          <p:cNvPr id="44" name="Text 42"/>
          <p:cNvSpPr txBox="1"/>
          <p:nvPr/>
        </p:nvSpPr>
        <p:spPr>
          <a:xfrm>
            <a:off x="685800" y="580644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6B5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Contradictory totals in the doc’s own numbers — validated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3246120" y="5440680"/>
            <a:ext cx="2560320" cy="777240"/>
          </a:xfrm>
          <a:prstGeom prst="roundRect">
            <a:avLst>
              <a:gd name="adj" fmla="val 9412"/>
            </a:avLst>
          </a:prstGeom>
          <a:solidFill>
            <a:srgbClr val="F3E4CC"/>
          </a:solidFill>
          <a:ln/>
        </p:spPr>
      </p:sp>
      <p:sp>
        <p:nvSpPr>
          <p:cNvPr id="46" name="Text 44"/>
          <p:cNvSpPr txBox="1"/>
          <p:nvPr/>
        </p:nvSpPr>
        <p:spPr>
          <a:xfrm>
            <a:off x="3383280" y="553212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E2C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Chrome Consistency</a:t>
            </a:r>
            <a:endParaRPr lang="en-US" sz="1050" dirty="0"/>
          </a:p>
        </p:txBody>
      </p:sp>
      <p:sp>
        <p:nvSpPr>
          <p:cNvPr id="47" name="Text 45"/>
          <p:cNvSpPr txBox="1"/>
          <p:nvPr/>
        </p:nvSpPr>
        <p:spPr>
          <a:xfrm>
            <a:off x="3383280" y="580644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6B5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Duplicated status-bar clock reading — validated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5943600" y="5440680"/>
            <a:ext cx="2560320" cy="777240"/>
          </a:xfrm>
          <a:prstGeom prst="roundRect">
            <a:avLst>
              <a:gd name="adj" fmla="val 9412"/>
            </a:avLst>
          </a:prstGeom>
          <a:solidFill>
            <a:srgbClr val="3B4A6B"/>
          </a:solidFill>
          <a:ln/>
        </p:spPr>
      </p:sp>
      <p:sp>
        <p:nvSpPr>
          <p:cNvPr id="49" name="Text 47"/>
          <p:cNvSpPr txBox="1"/>
          <p:nvPr/>
        </p:nvSpPr>
        <p:spPr>
          <a:xfrm>
            <a:off x="6080760" y="553212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 Consistency</a:t>
            </a:r>
            <a:endParaRPr lang="en-US" sz="1050" dirty="0"/>
          </a:p>
        </p:txBody>
      </p:sp>
      <p:sp>
        <p:nvSpPr>
          <p:cNvPr id="50" name="Text 48"/>
          <p:cNvSpPr txBox="1"/>
          <p:nvPr/>
        </p:nvSpPr>
        <p:spPr>
          <a:xfrm>
            <a:off x="6080760" y="580644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Anti-aliasing mismatch — tested, not yet reliable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8641080" y="5440680"/>
            <a:ext cx="2560320" cy="777240"/>
          </a:xfrm>
          <a:prstGeom prst="roundRect">
            <a:avLst>
              <a:gd name="adj" fmla="val 9412"/>
            </a:avLst>
          </a:prstGeom>
          <a:solidFill>
            <a:srgbClr val="3B4A6B"/>
          </a:solidFill>
          <a:ln/>
        </p:spPr>
      </p:sp>
      <p:sp>
        <p:nvSpPr>
          <p:cNvPr id="52" name="Text 50"/>
          <p:cNvSpPr txBox="1"/>
          <p:nvPr/>
        </p:nvSpPr>
        <p:spPr>
          <a:xfrm>
            <a:off x="8778240" y="553212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Sharpness</a:t>
            </a:r>
            <a:endParaRPr lang="en-US" sz="1050" dirty="0"/>
          </a:p>
        </p:txBody>
      </p:sp>
      <p:sp>
        <p:nvSpPr>
          <p:cNvPr id="53" name="Text 51"/>
          <p:cNvSpPr txBox="1"/>
          <p:nvPr/>
        </p:nvSpPr>
        <p:spPr>
          <a:xfrm>
            <a:off x="8778240" y="580644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Resampling blur — tested, found unreliable</a:t>
            </a:r>
            <a:endParaRPr lang="en-US" sz="800" dirty="0"/>
          </a:p>
        </p:txBody>
      </p:sp>
      <p:sp>
        <p:nvSpPr>
          <p:cNvPr id="54" name="Text 52"/>
          <p:cNvSpPr txBox="1"/>
          <p:nvPr/>
        </p:nvSpPr>
        <p:spPr>
          <a:xfrm>
            <a:off x="548640" y="651052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SCREENSHOT DETECTOR</a:t>
            </a:r>
            <a:endParaRPr lang="en-US" sz="900" dirty="0"/>
          </a:p>
        </p:txBody>
      </p:sp>
      <p:sp>
        <p:nvSpPr>
          <p:cNvPr id="55" name="Text 53"/>
          <p:cNvSpPr txBox="1"/>
          <p:nvPr/>
        </p:nvSpPr>
        <p:spPr>
          <a:xfrm>
            <a:off x="11094415" y="651052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8A5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 4 · PROPOSED METHODOLOGY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Evidence Decides What Gets Trusted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89888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new cue was implemented, then tested against real synthetic screenshots before it was allowed to influence a verdict — not assumed to work.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5166360" cy="3657600"/>
          </a:xfrm>
          <a:prstGeom prst="roundRect">
            <a:avLst>
              <a:gd name="adj" fmla="val 2000"/>
            </a:avLst>
          </a:prstGeom>
          <a:solidFill>
            <a:srgbClr val="F4F5F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2377440"/>
            <a:ext cx="4617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6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Validated &amp; Scored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834640"/>
            <a:ext cx="4617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Amount Consistency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127248"/>
            <a:ext cx="4617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 Total &lt; Subtotal, or two different Total/Balance values printed in one document — mathematically impossible for a real document. True-positive AND true-negative tested directly. Weighted equally to text_score; added to the high-confidence override list.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4114800"/>
            <a:ext cx="4617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Chrome Consistency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4407408"/>
            <a:ext cx="4617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 the status-bar clock reading repeated verbatim elsewhere in the image — a screenshot-of-a-screenshot tell. An early version false-positived on ordinary receipt timestamps; fixed to require an exact duplicate. Score capped at 0.6, kept out of overrides.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989320" y="2148840"/>
            <a:ext cx="5166360" cy="3657600"/>
          </a:xfrm>
          <a:prstGeom prst="roundRect">
            <a:avLst>
              <a:gd name="adj" fmla="val 2000"/>
            </a:avLst>
          </a:prstGeom>
          <a:solidFill>
            <a:srgbClr val="1B2A4A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263640" y="2377440"/>
            <a:ext cx="4617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B8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Tested, Not Yet Reliable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263640" y="2834640"/>
            <a:ext cx="4617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 Consistency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6263640" y="3127248"/>
            <a:ext cx="4617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Meant to catch text pasted from a different renderer. A deliberately constructed mismatch (normal text next to a hard-thresholded copy) produced near-identical scores — the metric isn’t sensitive enough yet. Shown for transparency, excluded from scoring.</a:t>
            </a:r>
            <a:endParaRPr lang="en-US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6263640" y="4114800"/>
            <a:ext cx="4617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Sharpness Consistency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6263640" y="4407408"/>
            <a:ext cx="4617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Meant to catch resampled/blurred pasted regions. Saturates near the top of its range on ordinary, untampered screenshots — and didn’t increase on a genuine resampling tamper built specifically to test it. Same fate as JPEG Ghost, for a related reason.</a:t>
            </a:r>
            <a:endParaRPr lang="en-US" sz="95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651052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SCREENSHOT DETECTOR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11094415" y="651052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8A5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 4 · PROPOSED METHODOLOGY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Cues to One Verdict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2286000"/>
            <a:ext cx="1783080" cy="914400"/>
          </a:xfrm>
          <a:prstGeom prst="roundRect">
            <a:avLst>
              <a:gd name="adj" fmla="val 8000"/>
            </a:avLst>
          </a:prstGeom>
          <a:solidFill>
            <a:srgbClr val="F4F5F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21792" y="2286000"/>
            <a:ext cx="16367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Cue Scores</a:t>
            </a:r>
            <a:endParaRPr lang="en-US" sz="1150" dirty="0"/>
          </a:p>
        </p:txBody>
      </p:sp>
      <p:sp>
        <p:nvSpPr>
          <p:cNvPr id="6" name="Text 4"/>
          <p:cNvSpPr txBox="1"/>
          <p:nvPr/>
        </p:nvSpPr>
        <p:spPr>
          <a:xfrm>
            <a:off x="621792" y="2788920"/>
            <a:ext cx="16367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to 1 each, per image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2368296" y="2670048"/>
            <a:ext cx="201168" cy="146304"/>
          </a:xfrm>
          <a:prstGeom prst="rightArrow">
            <a:avLst/>
          </a:prstGeom>
          <a:solidFill>
            <a:srgbClr val="C7CDD8"/>
          </a:solidFill>
          <a:ln/>
        </p:spPr>
      </p:sp>
      <p:sp>
        <p:nvSpPr>
          <p:cNvPr id="8" name="Shape 6"/>
          <p:cNvSpPr/>
          <p:nvPr/>
        </p:nvSpPr>
        <p:spPr>
          <a:xfrm>
            <a:off x="2606040" y="2286000"/>
            <a:ext cx="1828800" cy="914400"/>
          </a:xfrm>
          <a:prstGeom prst="roundRect">
            <a:avLst>
              <a:gd name="adj" fmla="val 8000"/>
            </a:avLst>
          </a:prstGeom>
          <a:solidFill>
            <a:srgbClr val="1B2A4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2679192" y="2286000"/>
            <a:ext cx="16824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RandomForest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2679192" y="2788920"/>
            <a:ext cx="16824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(or heuristic fallback)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classifier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471416" y="2670048"/>
            <a:ext cx="201168" cy="146304"/>
          </a:xfrm>
          <a:prstGeom prst="rightArrow">
            <a:avLst/>
          </a:prstGeom>
          <a:solidFill>
            <a:srgbClr val="C7CDD8"/>
          </a:solidFill>
          <a:ln/>
        </p:spPr>
      </p:sp>
      <p:sp>
        <p:nvSpPr>
          <p:cNvPr id="12" name="Shape 10"/>
          <p:cNvSpPr/>
          <p:nvPr/>
        </p:nvSpPr>
        <p:spPr>
          <a:xfrm>
            <a:off x="4709160" y="2286000"/>
            <a:ext cx="1965960" cy="914400"/>
          </a:xfrm>
          <a:prstGeom prst="roundRect">
            <a:avLst>
              <a:gd name="adj" fmla="val 8000"/>
            </a:avLst>
          </a:prstGeom>
          <a:solidFill>
            <a:srgbClr val="F4F5F7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782312" y="2286000"/>
            <a:ext cx="18196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fake_score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4782312" y="2788920"/>
            <a:ext cx="18196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composite score vs. per-domain threshold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6711696" y="2670048"/>
            <a:ext cx="201168" cy="146304"/>
          </a:xfrm>
          <a:prstGeom prst="rightArrow">
            <a:avLst/>
          </a:prstGeom>
          <a:solidFill>
            <a:srgbClr val="C7CDD8"/>
          </a:solidFill>
          <a:ln/>
        </p:spPr>
      </p:sp>
      <p:sp>
        <p:nvSpPr>
          <p:cNvPr id="16" name="Shape 14"/>
          <p:cNvSpPr/>
          <p:nvPr/>
        </p:nvSpPr>
        <p:spPr>
          <a:xfrm>
            <a:off x="6949440" y="2286000"/>
            <a:ext cx="2148840" cy="914400"/>
          </a:xfrm>
          <a:prstGeom prst="roundRect">
            <a:avLst>
              <a:gd name="adj" fmla="val 8000"/>
            </a:avLst>
          </a:prstGeom>
          <a:solidFill>
            <a:srgbClr val="C9822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022592" y="2286000"/>
            <a:ext cx="20025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High-Confidence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Override Check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7022592" y="2788920"/>
            <a:ext cx="2002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FBEB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 / text / amount ≥ 0.8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9134856" y="2670048"/>
            <a:ext cx="201168" cy="146304"/>
          </a:xfrm>
          <a:prstGeom prst="rightArrow">
            <a:avLst/>
          </a:prstGeom>
          <a:solidFill>
            <a:srgbClr val="C7CDD8"/>
          </a:solidFill>
          <a:ln/>
        </p:spPr>
      </p:sp>
      <p:sp>
        <p:nvSpPr>
          <p:cNvPr id="20" name="Shape 18"/>
          <p:cNvSpPr/>
          <p:nvPr/>
        </p:nvSpPr>
        <p:spPr>
          <a:xfrm>
            <a:off x="9372600" y="2286000"/>
            <a:ext cx="1783080" cy="914400"/>
          </a:xfrm>
          <a:prstGeom prst="roundRect">
            <a:avLst>
              <a:gd name="adj" fmla="val 8000"/>
            </a:avLst>
          </a:prstGeom>
          <a:solidFill>
            <a:srgbClr val="1B2A4A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445752" y="2286000"/>
            <a:ext cx="16367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Verdict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9445752" y="2788920"/>
            <a:ext cx="16367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override_reason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548640" y="3611880"/>
            <a:ext cx="11094415" cy="2194560"/>
          </a:xfrm>
          <a:prstGeom prst="roundRect">
            <a:avLst>
              <a:gd name="adj" fmla="val 3333"/>
            </a:avLst>
          </a:prstGeom>
          <a:solidFill>
            <a:srgbClr val="F4F5F7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868680" y="3794760"/>
            <a:ext cx="1045433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 per-domain threshold: the pooled model’s own measured numbers show one global cutoff can’t suit every domain — CASIA-style general photos reach 100% recall at threshold 0.5, but dense receipt-style documents only reach 28.2% precision at the same cutoff. classify_content_type buckets each image (financial_document / social_or_chat / photo / unknown) and looks up a per-type threshold — 0.55 for financial documents — instead of forcing one number on every domain.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an override on top of the model: a real false negative was found in manual testing — a fake bank statement carrying a generator watermark scored “Likely Authentic” on pixel evidence alone. A cue that is conclusive on its own can now force the verdict, with the reason always surfaced in the response.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548640" y="651052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SCREENSHOT DETECTOR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11094415" y="651052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8A5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 4 · PROPOSED METHODOLOGY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Threshold Doesn’t Fit Every Domain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89888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classify_content_type is a simple, explainable rule-based bucketing — not a second trained model — so a misclassification only shifts which threshold applies, never fake_score itself.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11094415" cy="914400"/>
          </a:xfrm>
          <a:prstGeom prst="roundRect">
            <a:avLst>
              <a:gd name="adj" fmla="val 8000"/>
            </a:avLst>
          </a:prstGeom>
          <a:solidFill>
            <a:srgbClr val="F4F5F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244144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financial_document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752344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2 “$” amounts + balance/total/payment/account language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492240" y="2468880"/>
            <a:ext cx="640080" cy="64008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92240" y="2468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8B87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0.55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7406640" y="2587752"/>
            <a:ext cx="39620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raised — findit2 receipts measured 28.2% precision at 0.5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48640" y="3410712"/>
            <a:ext cx="11094415" cy="914400"/>
          </a:xfrm>
          <a:prstGeom prst="roundRect">
            <a:avLst>
              <a:gd name="adj" fmla="val 8000"/>
            </a:avLst>
          </a:prstGeom>
          <a:solidFill>
            <a:srgbClr val="F4F5F7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22960" y="35204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social_or_chat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822960" y="3831336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@handle pattern, or phone-shaped image with light informal text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492240" y="3547872"/>
            <a:ext cx="640080" cy="64008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492240" y="354787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8B87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0.50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7406640" y="3666744"/>
            <a:ext cx="39620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 at default — no measured evidence either way yet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48640" y="4489704"/>
            <a:ext cx="11094415" cy="914400"/>
          </a:xfrm>
          <a:prstGeom prst="roundRect">
            <a:avLst>
              <a:gd name="adj" fmla="val 8000"/>
            </a:avLst>
          </a:prstGeom>
          <a:solidFill>
            <a:srgbClr val="F4F5F7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22960" y="459943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822960" y="4910328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than 5 OCR-detected words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492240" y="4626864"/>
            <a:ext cx="640080" cy="64008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492240" y="4626864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8B87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0.50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7406640" y="4745736"/>
            <a:ext cx="39620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 at default — CASIA-style photos measure 95.1% F1 here</a:t>
            </a:r>
            <a:endParaRPr lang="en-US" sz="95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5660136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5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caveat: 0.55 is a reasoned first pass based on the one measured breakdown available, not an independently threshold-swept value — a named next step, not a finished tuning process.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651052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SCREENSHOT DETECTOR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11094415" y="651052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8A5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 5 · SYSTEM ARCHITECTURE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914400" y="2103120"/>
            <a:ext cx="2148840" cy="960120"/>
          </a:xfrm>
          <a:prstGeom prst="roundRect">
            <a:avLst>
              <a:gd name="adj" fmla="val 7619"/>
            </a:avLst>
          </a:prstGeom>
          <a:solidFill>
            <a:srgbClr val="F4F5F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87552" y="2103120"/>
            <a:ext cx="2002536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Frontend</a:t>
            </a:r>
            <a:endParaRPr lang="en-US" sz="1150" dirty="0"/>
          </a:p>
        </p:txBody>
      </p:sp>
      <p:sp>
        <p:nvSpPr>
          <p:cNvPr id="6" name="Text 4"/>
          <p:cNvSpPr txBox="1"/>
          <p:nvPr/>
        </p:nvSpPr>
        <p:spPr>
          <a:xfrm>
            <a:off x="987552" y="2631186"/>
            <a:ext cx="2002536" cy="403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· ELA view · report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3099816" y="2510028"/>
            <a:ext cx="201168" cy="146304"/>
          </a:xfrm>
          <a:prstGeom prst="rightArrow">
            <a:avLst/>
          </a:prstGeom>
          <a:solidFill>
            <a:srgbClr val="C7CDD8"/>
          </a:solidFill>
          <a:ln/>
        </p:spPr>
      </p:sp>
      <p:sp>
        <p:nvSpPr>
          <p:cNvPr id="8" name="Shape 6"/>
          <p:cNvSpPr/>
          <p:nvPr/>
        </p:nvSpPr>
        <p:spPr>
          <a:xfrm>
            <a:off x="3337560" y="2103120"/>
            <a:ext cx="1920240" cy="960120"/>
          </a:xfrm>
          <a:prstGeom prst="roundRect">
            <a:avLst>
              <a:gd name="adj" fmla="val 7619"/>
            </a:avLst>
          </a:prstGeom>
          <a:solidFill>
            <a:srgbClr val="1B2A4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410712" y="2103120"/>
            <a:ext cx="1773936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API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3410712" y="2631186"/>
            <a:ext cx="1773936" cy="403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/analyze  /status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5294376" y="2510028"/>
            <a:ext cx="201168" cy="146304"/>
          </a:xfrm>
          <a:prstGeom prst="rightArrow">
            <a:avLst/>
          </a:prstGeom>
          <a:solidFill>
            <a:srgbClr val="C7CDD8"/>
          </a:solidFill>
          <a:ln/>
        </p:spPr>
      </p:sp>
      <p:sp>
        <p:nvSpPr>
          <p:cNvPr id="12" name="Shape 10"/>
          <p:cNvSpPr/>
          <p:nvPr/>
        </p:nvSpPr>
        <p:spPr>
          <a:xfrm>
            <a:off x="5532120" y="2103120"/>
            <a:ext cx="2331720" cy="960120"/>
          </a:xfrm>
          <a:prstGeom prst="roundRect">
            <a:avLst>
              <a:gd name="adj" fmla="val 7619"/>
            </a:avLst>
          </a:prstGeom>
          <a:solidFill>
            <a:srgbClr val="F4F5F7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605272" y="2103120"/>
            <a:ext cx="2185416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Forensic Pipeline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5605272" y="2631186"/>
            <a:ext cx="2185416" cy="403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cues + content-type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(forensic.py)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7900416" y="2510028"/>
            <a:ext cx="201168" cy="146304"/>
          </a:xfrm>
          <a:prstGeom prst="rightArrow">
            <a:avLst/>
          </a:prstGeom>
          <a:solidFill>
            <a:srgbClr val="C7CDD8"/>
          </a:solidFill>
          <a:ln/>
        </p:spPr>
      </p:sp>
      <p:sp>
        <p:nvSpPr>
          <p:cNvPr id="16" name="Shape 14"/>
          <p:cNvSpPr/>
          <p:nvPr/>
        </p:nvSpPr>
        <p:spPr>
          <a:xfrm>
            <a:off x="8138160" y="2103120"/>
            <a:ext cx="2148840" cy="960120"/>
          </a:xfrm>
          <a:prstGeom prst="roundRect">
            <a:avLst>
              <a:gd name="adj" fmla="val 7619"/>
            </a:avLst>
          </a:prstGeom>
          <a:solidFill>
            <a:srgbClr val="1B2A4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211312" y="2103120"/>
            <a:ext cx="2002536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Loader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8211312" y="2631186"/>
            <a:ext cx="2002536" cy="403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 + overrides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threshold lookup</a:t>
            </a:r>
            <a:endParaRPr lang="en-US" sz="85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320040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verdict returned to the frontend for display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48640" y="4023360"/>
            <a:ext cx="292608" cy="292608"/>
          </a:xfrm>
          <a:prstGeom prst="ellipse">
            <a:avLst/>
          </a:prstGeom>
          <a:solidFill>
            <a:srgbClr val="C9822B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48640" y="401421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•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960120" y="397764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by design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960120" y="4279392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 processed entirely in memory, never written to disk — only a SHA-256 hash is logged.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206240" y="4023360"/>
            <a:ext cx="292608" cy="292608"/>
          </a:xfrm>
          <a:prstGeom prst="ellipse">
            <a:avLst/>
          </a:prstGeom>
          <a:solidFill>
            <a:srgbClr val="C9822B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4206240" y="401421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•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4617720" y="397764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Containerized deployment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4617720" y="4279392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Compose; nginx reverse-proxies the frontend and /api/* to the Flask container.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7863840" y="4023360"/>
            <a:ext cx="292608" cy="292608"/>
          </a:xfrm>
          <a:prstGeom prst="ellipse">
            <a:avLst/>
          </a:prstGeom>
          <a:solidFill>
            <a:srgbClr val="C9822B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7863840" y="401421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•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8275320" y="397764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independent services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8275320" y="4279392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and backend ship, scale, and test separately, joined only by the /analyze contract.</a:t>
            </a:r>
            <a:endParaRPr lang="en-US" sz="950" dirty="0"/>
          </a:p>
        </p:txBody>
      </p:sp>
      <p:sp>
        <p:nvSpPr>
          <p:cNvPr id="32" name="Text 30"/>
          <p:cNvSpPr txBox="1"/>
          <p:nvPr/>
        </p:nvSpPr>
        <p:spPr>
          <a:xfrm>
            <a:off x="548640" y="651052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SCREENSHOT DETECTOR</a:t>
            </a:r>
            <a:endParaRPr lang="en-US" sz="900" dirty="0"/>
          </a:p>
        </p:txBody>
      </p:sp>
      <p:sp>
        <p:nvSpPr>
          <p:cNvPr id="33" name="Text 31"/>
          <p:cNvSpPr txBox="1"/>
          <p:nvPr/>
        </p:nvSpPr>
        <p:spPr>
          <a:xfrm>
            <a:off x="11094415" y="651052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8A5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 5 · SYSTEM ARCHITECTURE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Module Design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83080"/>
            <a:ext cx="5166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8A5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103120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app.py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2880360" y="2103120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routes — /analyze, /status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523744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forensic.py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2880360" y="2523744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11 cues + content-type classifier + orchestration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2944368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model_loader.py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2880360" y="2944368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Classifier + override logic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3364992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config.py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2880360" y="3364992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Weights, thresholds, per-domain overrides</a:t>
            </a:r>
            <a:endParaRPr lang="en-US" sz="95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3785616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tools/synthesize_dataset.py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2880360" y="3785616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the 8-category labeled corpus</a:t>
            </a:r>
            <a:endParaRPr lang="en-US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4206240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tools/evaluate_manual.py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2880360" y="4206240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Evaluates against real, hand-collected screenshots</a:t>
            </a:r>
            <a:endParaRPr lang="en-US" sz="950" dirty="0"/>
          </a:p>
        </p:txBody>
      </p:sp>
      <p:sp>
        <p:nvSpPr>
          <p:cNvPr id="17" name="Text 15"/>
          <p:cNvSpPr txBox="1"/>
          <p:nvPr/>
        </p:nvSpPr>
        <p:spPr>
          <a:xfrm>
            <a:off x="5989320" y="1783080"/>
            <a:ext cx="5166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8A5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5989320" y="2103120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App.jsx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8321040" y="2103120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Top-level layout &amp; state</a:t>
            </a:r>
            <a:endParaRPr lang="en-US" sz="950" dirty="0"/>
          </a:p>
        </p:txBody>
      </p:sp>
      <p:sp>
        <p:nvSpPr>
          <p:cNvPr id="20" name="Text 18"/>
          <p:cNvSpPr txBox="1"/>
          <p:nvPr/>
        </p:nvSpPr>
        <p:spPr>
          <a:xfrm>
            <a:off x="5989320" y="2523744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ImageUpload.jsx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8321040" y="2523744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Drag-and-drop upload UI</a:t>
            </a:r>
            <a:endParaRPr lang="en-US" sz="950" dirty="0"/>
          </a:p>
        </p:txBody>
      </p:sp>
      <p:sp>
        <p:nvSpPr>
          <p:cNvPr id="22" name="Text 20"/>
          <p:cNvSpPr txBox="1"/>
          <p:nvPr/>
        </p:nvSpPr>
        <p:spPr>
          <a:xfrm>
            <a:off x="5989320" y="2944368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AnalysisResults.jsx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8321040" y="2944368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 heatmap + 11-cue breakdown + content type</a:t>
            </a:r>
            <a:endParaRPr lang="en-US" sz="950" dirty="0"/>
          </a:p>
        </p:txBody>
      </p:sp>
      <p:sp>
        <p:nvSpPr>
          <p:cNvPr id="24" name="Text 22"/>
          <p:cNvSpPr txBox="1"/>
          <p:nvPr/>
        </p:nvSpPr>
        <p:spPr>
          <a:xfrm>
            <a:off x="5989320" y="3364992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services/api.js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8321040" y="3364992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Talks to the Flask /analyze endpoint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548640" y="5166360"/>
            <a:ext cx="11094415" cy="777240"/>
          </a:xfrm>
          <a:prstGeom prst="roundRect">
            <a:avLst>
              <a:gd name="adj" fmla="val 9412"/>
            </a:avLst>
          </a:prstGeom>
          <a:solidFill>
            <a:srgbClr val="1B2A4A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868680" y="5166360"/>
            <a:ext cx="104543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Tests: 31 backend (pytest) + 3 frontend (vitest) = 34, all passing — verified in a live run, including a real HTTP round-trip through /analyze, before this deck was built.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548640" y="651052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SCREENSHOT DETECTOR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11094415" y="651052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8A5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 5 · SYSTEM ARCHITECTURE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Broadening Screenshot Coverage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89888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synthesize_dataset.py generates a labeled, paired authentic/tampered corpus across eight screenshot categories — the training data no public dataset provides.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2468880" cy="914400"/>
          </a:xfrm>
          <a:prstGeom prst="roundRect">
            <a:avLst>
              <a:gd name="adj" fmla="val 8000"/>
            </a:avLst>
          </a:prstGeom>
          <a:solidFill>
            <a:srgbClr val="1B2A4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214884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3154680" y="2148840"/>
            <a:ext cx="2468880" cy="914400"/>
          </a:xfrm>
          <a:prstGeom prst="roundRect">
            <a:avLst>
              <a:gd name="adj" fmla="val 8000"/>
            </a:avLst>
          </a:prstGeom>
          <a:solidFill>
            <a:srgbClr val="1B2A4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154680" y="214884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760720" y="2148840"/>
            <a:ext cx="2468880" cy="914400"/>
          </a:xfrm>
          <a:prstGeom prst="roundRect">
            <a:avLst>
              <a:gd name="adj" fmla="val 8000"/>
            </a:avLst>
          </a:prstGeom>
          <a:solidFill>
            <a:srgbClr val="1B2A4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760720" y="214884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8366760" y="2148840"/>
            <a:ext cx="2468880" cy="914400"/>
          </a:xfrm>
          <a:prstGeom prst="roundRect">
            <a:avLst>
              <a:gd name="adj" fmla="val 8000"/>
            </a:avLst>
          </a:prstGeom>
          <a:solidFill>
            <a:srgbClr val="1B2A4A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366760" y="214884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48640" y="3200400"/>
            <a:ext cx="2468880" cy="914400"/>
          </a:xfrm>
          <a:prstGeom prst="roundRect">
            <a:avLst>
              <a:gd name="adj" fmla="val 8000"/>
            </a:avLst>
          </a:prstGeom>
          <a:solidFill>
            <a:srgbClr val="F4F5F7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48640" y="320040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3154680" y="3200400"/>
            <a:ext cx="2468880" cy="914400"/>
          </a:xfrm>
          <a:prstGeom prst="roundRect">
            <a:avLst>
              <a:gd name="adj" fmla="val 8000"/>
            </a:avLst>
          </a:prstGeom>
          <a:solidFill>
            <a:srgbClr val="F4F5F7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3154680" y="320040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5760720" y="3200400"/>
            <a:ext cx="2468880" cy="914400"/>
          </a:xfrm>
          <a:prstGeom prst="roundRect">
            <a:avLst>
              <a:gd name="adj" fmla="val 8000"/>
            </a:avLst>
          </a:prstGeom>
          <a:solidFill>
            <a:srgbClr val="F4F5F7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5760720" y="320040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8366760" y="3200400"/>
            <a:ext cx="2468880" cy="914400"/>
          </a:xfrm>
          <a:prstGeom prst="roundRect">
            <a:avLst>
              <a:gd name="adj" fmla="val 8000"/>
            </a:avLst>
          </a:prstGeom>
          <a:solidFill>
            <a:srgbClr val="F4F5F7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366760" y="320040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</a:t>
            </a:r>
            <a:endParaRPr lang="en-US" sz="135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443484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 &amp; dark palettes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4736592"/>
            <a:ext cx="3429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render independently rolls a color scheme — real screenshots split across both.</a:t>
            </a:r>
            <a:endParaRPr lang="en-US" sz="950" dirty="0"/>
          </a:p>
        </p:txBody>
      </p:sp>
      <p:sp>
        <p:nvSpPr>
          <p:cNvPr id="23" name="Text 21"/>
          <p:cNvSpPr txBox="1"/>
          <p:nvPr/>
        </p:nvSpPr>
        <p:spPr>
          <a:xfrm>
            <a:off x="4206240" y="443484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tamper types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4206240" y="4736592"/>
            <a:ext cx="3429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Patch-recompress, copy-move, flat-overwrite, EXIF tag, watermark-inject, combined.</a:t>
            </a:r>
            <a:endParaRPr lang="en-US" sz="950" dirty="0"/>
          </a:p>
        </p:txBody>
      </p:sp>
      <p:sp>
        <p:nvSpPr>
          <p:cNvPr id="25" name="Text 23"/>
          <p:cNvSpPr txBox="1"/>
          <p:nvPr/>
        </p:nvSpPr>
        <p:spPr>
          <a:xfrm>
            <a:off x="7863840" y="443484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Genuinely OCR-legible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7863840" y="4736592"/>
            <a:ext cx="3429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ImageDraw.text + a real font — not line-scribbles — so text-based cues have real content.</a:t>
            </a:r>
            <a:endParaRPr lang="en-US" sz="950" dirty="0"/>
          </a:p>
        </p:txBody>
      </p:sp>
      <p:sp>
        <p:nvSpPr>
          <p:cNvPr id="27" name="Text 25"/>
          <p:cNvSpPr txBox="1"/>
          <p:nvPr/>
        </p:nvSpPr>
        <p:spPr>
          <a:xfrm>
            <a:off x="548640" y="598932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5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2,400 images generated (150/category) · known scope limit: one rendering engine, so this narrows the “no screenshot dataset” gap — it does not close it.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548640" y="651052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SCREENSHOT DETECTOR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11094415" y="651052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8A5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 6 · FEASIBILITY, RISKS &amp; PLANNING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Feasibility — Measured, Not Assumed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89888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working, tested prototype already exists. These numbers are from the project’s own pooled-dataset evaluation and test runs — not projected.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2514600" cy="1508760"/>
          </a:xfrm>
          <a:prstGeom prst="roundRect">
            <a:avLst>
              <a:gd name="adj" fmla="val 4848"/>
            </a:avLst>
          </a:prstGeom>
          <a:solidFill>
            <a:srgbClr val="1B2A4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85800" y="2258568"/>
            <a:ext cx="2240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C98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79.1%</a:t>
            </a:r>
            <a:endParaRPr lang="en-US" sz="34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898648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3191256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pooled RandomForest, held-out test (n=1,033)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246120" y="2148840"/>
            <a:ext cx="2514600" cy="1508760"/>
          </a:xfrm>
          <a:prstGeom prst="roundRect">
            <a:avLst>
              <a:gd name="adj" fmla="val 4848"/>
            </a:avLst>
          </a:prstGeom>
          <a:solidFill>
            <a:srgbClr val="1B2A4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383280" y="2258568"/>
            <a:ext cx="2240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C98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79.4%</a:t>
            </a:r>
            <a:endParaRPr lang="en-US" sz="3400" dirty="0"/>
          </a:p>
        </p:txBody>
      </p:sp>
      <p:sp>
        <p:nvSpPr>
          <p:cNvPr id="11" name="Text 9"/>
          <p:cNvSpPr txBox="1"/>
          <p:nvPr/>
        </p:nvSpPr>
        <p:spPr>
          <a:xfrm>
            <a:off x="3383280" y="2898648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3383280" y="3191256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pooled held-out test split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5943600" y="2148840"/>
            <a:ext cx="2514600" cy="1508760"/>
          </a:xfrm>
          <a:prstGeom prst="roundRect">
            <a:avLst>
              <a:gd name="adj" fmla="val 4848"/>
            </a:avLst>
          </a:prstGeom>
          <a:solidFill>
            <a:srgbClr val="1B2A4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080760" y="2258568"/>
            <a:ext cx="2240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C98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0%</a:t>
            </a:r>
            <a:endParaRPr lang="en-US" sz="3400" dirty="0"/>
          </a:p>
        </p:txBody>
      </p:sp>
      <p:sp>
        <p:nvSpPr>
          <p:cNvPr id="15" name="Text 13"/>
          <p:cNvSpPr txBox="1"/>
          <p:nvPr/>
        </p:nvSpPr>
        <p:spPr>
          <a:xfrm>
            <a:off x="6080760" y="2898648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positives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6080760" y="3191256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authentic synthetic screenshots, both retrains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8641080" y="2148840"/>
            <a:ext cx="2514600" cy="1508760"/>
          </a:xfrm>
          <a:prstGeom prst="roundRect">
            <a:avLst>
              <a:gd name="adj" fmla="val 4848"/>
            </a:avLst>
          </a:prstGeom>
          <a:solidFill>
            <a:srgbClr val="1B2A4A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778240" y="2258568"/>
            <a:ext cx="2240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C98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34 / 34</a:t>
            </a:r>
            <a:endParaRPr lang="en-US" sz="3400" dirty="0"/>
          </a:p>
        </p:txBody>
      </p:sp>
      <p:sp>
        <p:nvSpPr>
          <p:cNvPr id="19" name="Text 17"/>
          <p:cNvSpPr txBox="1"/>
          <p:nvPr/>
        </p:nvSpPr>
        <p:spPr>
          <a:xfrm>
            <a:off x="8778240" y="2898648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passing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8778240" y="3191256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 backend (pytest) + 3 frontend (vitest)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48640" y="3931920"/>
            <a:ext cx="11094415" cy="1874520"/>
          </a:xfrm>
          <a:prstGeom prst="roundRect">
            <a:avLst>
              <a:gd name="adj" fmla="val 3902"/>
            </a:avLst>
          </a:prstGeom>
          <a:solidFill>
            <a:srgbClr val="F3E4CC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822960" y="4069080"/>
            <a:ext cx="10545775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3E2C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caveat, carried forward from Review 1 and still true: the classifier is trained on three real, labeled forgery datasets pooled together (receipts, general photos, found forgeries) — still no public labeled screenshot dataset exists. Per-source breakdown matters more than the pooled average: CASIA-style general photos reach 95.1% F1, but findit2 receipts reach only 37.7% F1 (28.2% precision) — exactly why the per-domain threshold on the previous slide exists. A synthetic-only demo retrain on the new 8-category corpus (2,400 images) separately measured 99.0% precision / 54.4% recall / F1 0.702, consistent with the 5-category version of the same experiment — but was deliberately NOT promoted to the production model, since synthetic-only training risks learning this generator’s own quirks rather than universal tampering signal.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651052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SCREENSHOT DETECTOR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11094415" y="651052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8A5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 6 · FEASIBILITY, RISKS &amp; PLANNING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Risks, Limitations &amp; Ethics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5166360" cy="4160520"/>
          </a:xfrm>
          <a:prstGeom prst="roundRect">
            <a:avLst>
              <a:gd name="adj" fmla="val 1758"/>
            </a:avLst>
          </a:prstGeom>
          <a:solidFill>
            <a:srgbClr val="F4F5F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2103120"/>
            <a:ext cx="461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8A5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 LIMITATIONS</a:t>
            </a:r>
            <a:endParaRPr lang="en-US" sz="115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487168"/>
            <a:ext cx="461772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5000"/>
              </a:lnSpc>
              <a:spcAft>
                <a:spcPts val="2160"/>
              </a:spcAft>
              <a:buSzPct val="100000"/>
              <a:buChar char="—"/>
            </a:pPr>
            <a:r>
              <a:rPr lang="en-US" sz="10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gap: still no real screenshot-labeled dataset; pooled model trades receipt precision for general recall</a:t>
            </a:r>
            <a:endParaRPr lang="en-US" sz="1000" dirty="0"/>
          </a:p>
          <a:p>
            <a:pPr marL="177800" indent="-177800">
              <a:lnSpc>
                <a:spcPct val="115000"/>
              </a:lnSpc>
              <a:spcAft>
                <a:spcPts val="2160"/>
              </a:spcAft>
              <a:buSzPct val="100000"/>
              <a:buChar char="—"/>
            </a:pPr>
            <a:r>
              <a:rPr lang="en-US" sz="10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Compression/noise cues weak on flat, vector-style UI</a:t>
            </a:r>
            <a:endParaRPr lang="en-US" sz="1000" dirty="0"/>
          </a:p>
          <a:p>
            <a:pPr marL="177800" indent="-177800">
              <a:lnSpc>
                <a:spcPct val="115000"/>
              </a:lnSpc>
              <a:spcAft>
                <a:spcPts val="2160"/>
              </a:spcAft>
              <a:buSzPct val="100000"/>
              <a:buChar char="—"/>
            </a:pPr>
            <a:r>
              <a:rPr lang="en-US" sz="10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of 4 new cues (font, edge-sharpness) tested and found not reliable — shown, excluded from scoring</a:t>
            </a:r>
            <a:endParaRPr lang="en-US" sz="1000" dirty="0"/>
          </a:p>
          <a:p>
            <a:pPr marL="177800" indent="-177800">
              <a:lnSpc>
                <a:spcPct val="115000"/>
              </a:lnSpc>
              <a:spcAft>
                <a:spcPts val="2160"/>
              </a:spcAft>
              <a:buSzPct val="100000"/>
              <a:buChar char="—"/>
            </a:pPr>
            <a:r>
              <a:rPr lang="en-US" sz="10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ELA/Ghost need JPEG history — blind on pure PNGs</a:t>
            </a:r>
            <a:endParaRPr lang="en-US" sz="1000" dirty="0"/>
          </a:p>
          <a:p>
            <a:pPr marL="177800" indent="-177800">
              <a:lnSpc>
                <a:spcPct val="115000"/>
              </a:lnSpc>
              <a:spcAft>
                <a:spcPts val="2160"/>
              </a:spcAft>
              <a:buSzPct val="100000"/>
              <a:buChar char="—"/>
            </a:pPr>
            <a:r>
              <a:rPr lang="en-US" sz="10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chrome_score has a known, narrower false-positive mode (ordinary receipt timestamps) — capped weight, no override</a:t>
            </a:r>
            <a:endParaRPr lang="en-US" sz="1000" dirty="0"/>
          </a:p>
          <a:p>
            <a:pPr marL="177800" indent="-177800">
              <a:lnSpc>
                <a:spcPct val="115000"/>
              </a:lnSpc>
              <a:spcAft>
                <a:spcPts val="2160"/>
              </a:spcAft>
              <a:buSzPct val="100000"/>
              <a:buChar char="—"/>
            </a:pPr>
            <a:r>
              <a:rPr lang="en-US" sz="10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Per-domain threshold (0.55) is a reasoned guess, not a swept value yet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989320" y="1920240"/>
            <a:ext cx="5166360" cy="4160520"/>
          </a:xfrm>
          <a:prstGeom prst="roundRect">
            <a:avLst>
              <a:gd name="adj" fmla="val 1758"/>
            </a:avLst>
          </a:prstGeom>
          <a:solidFill>
            <a:srgbClr val="1B2A4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263640" y="2103120"/>
            <a:ext cx="461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E8B8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ETHICS &amp; RESPONSIBLE USE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6263640" y="2487168"/>
            <a:ext cx="461772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5000"/>
              </a:lnSpc>
              <a:spcAft>
                <a:spcPts val="2160"/>
              </a:spcAft>
              <a:buSzPct val="100000"/>
              <a:buChar char="—"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by design: in-memory only, never stored to disk</a:t>
            </a:r>
            <a:endParaRPr lang="en-US" sz="1000" dirty="0"/>
          </a:p>
          <a:p>
            <a:pPr marL="177800" indent="-177800">
              <a:lnSpc>
                <a:spcPct val="115000"/>
              </a:lnSpc>
              <a:spcAft>
                <a:spcPts val="2160"/>
              </a:spcAft>
              <a:buSzPct val="100000"/>
              <a:buChar char="—"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a SHA-256 hash is logged, never the image itself</a:t>
            </a:r>
            <a:endParaRPr lang="en-US" sz="1000" dirty="0"/>
          </a:p>
          <a:p>
            <a:pPr marL="177800" indent="-177800">
              <a:lnSpc>
                <a:spcPct val="115000"/>
              </a:lnSpc>
              <a:spcAft>
                <a:spcPts val="2160"/>
              </a:spcAft>
              <a:buSzPct val="100000"/>
              <a:buChar char="—"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fabricated “real-world” validation data: evaluate_manual.py waits for genuine, personally-verified examples rather than reporting a number that would look like validation without being any</a:t>
            </a:r>
            <a:endParaRPr lang="en-US" sz="1000" dirty="0"/>
          </a:p>
          <a:p>
            <a:pPr marL="177800" indent="-177800">
              <a:lnSpc>
                <a:spcPct val="115000"/>
              </a:lnSpc>
              <a:spcAft>
                <a:spcPts val="2160"/>
              </a:spcAft>
              <a:buSzPct val="100000"/>
              <a:buChar char="—"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Intended use: fraud/scam prevention, not surveillance</a:t>
            </a:r>
            <a:endParaRPr lang="en-US" sz="1000" dirty="0"/>
          </a:p>
          <a:p>
            <a:pPr marL="177800" indent="-177800">
              <a:lnSpc>
                <a:spcPct val="115000"/>
              </a:lnSpc>
              <a:spcAft>
                <a:spcPts val="2160"/>
              </a:spcAft>
              <a:buSzPct val="100000"/>
              <a:buChar char="—"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auth or rate-limiting yet — not for public exposure as-is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651052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SCREENSHOT DETECTOR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11094415" y="651052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8A5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 6 · FEASIBILITY, RISKS &amp; PLANNING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 Planning — Done vs. Future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5166360" cy="4160520"/>
          </a:xfrm>
          <a:prstGeom prst="roundRect">
            <a:avLst>
              <a:gd name="adj" fmla="val 1758"/>
            </a:avLst>
          </a:prstGeom>
          <a:solidFill>
            <a:srgbClr val="F4F5F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2103120"/>
            <a:ext cx="461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E6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487168"/>
            <a:ext cx="461772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5000"/>
              </a:lnSpc>
              <a:spcAft>
                <a:spcPts val="2160"/>
              </a:spcAft>
              <a:buSzPct val="100000"/>
              <a:buChar char="—"/>
            </a:pPr>
            <a:r>
              <a:rPr lang="en-US" sz="10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11-cue forensic pipeline, 4 added &amp; empirically validated this phase</a:t>
            </a:r>
            <a:endParaRPr lang="en-US" sz="1050" dirty="0"/>
          </a:p>
          <a:p>
            <a:pPr marL="177800" indent="-177800">
              <a:lnSpc>
                <a:spcPct val="115000"/>
              </a:lnSpc>
              <a:spcAft>
                <a:spcPts val="2160"/>
              </a:spcAft>
              <a:buSzPct val="100000"/>
              <a:buChar char="—"/>
            </a:pPr>
            <a:r>
              <a:rPr lang="en-US" sz="10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Per-domain content-type classification &amp; thresholds</a:t>
            </a:r>
            <a:endParaRPr lang="en-US" sz="1050" dirty="0"/>
          </a:p>
          <a:p>
            <a:pPr marL="177800" indent="-177800">
              <a:lnSpc>
                <a:spcPct val="115000"/>
              </a:lnSpc>
              <a:spcAft>
                <a:spcPts val="2160"/>
              </a:spcAft>
              <a:buSzPct val="100000"/>
              <a:buChar char="—"/>
            </a:pPr>
            <a:r>
              <a:rPr lang="en-US" sz="10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8-category synthetic screenshot corpus (was 5)</a:t>
            </a:r>
            <a:endParaRPr lang="en-US" sz="1050" dirty="0"/>
          </a:p>
          <a:p>
            <a:pPr marL="177800" indent="-177800">
              <a:lnSpc>
                <a:spcPct val="115000"/>
              </a:lnSpc>
              <a:spcAft>
                <a:spcPts val="2160"/>
              </a:spcAft>
              <a:buSzPct val="100000"/>
              <a:buChar char="—"/>
            </a:pPr>
            <a:r>
              <a:rPr lang="en-US" sz="10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Trained classifier + high-confidence overrides</a:t>
            </a:r>
            <a:endParaRPr lang="en-US" sz="1050" dirty="0"/>
          </a:p>
          <a:p>
            <a:pPr marL="177800" indent="-177800">
              <a:lnSpc>
                <a:spcPct val="115000"/>
              </a:lnSpc>
              <a:spcAft>
                <a:spcPts val="2160"/>
              </a:spcAft>
              <a:buSzPct val="100000"/>
              <a:buChar char="—"/>
            </a:pPr>
            <a:r>
              <a:rPr lang="en-US" sz="10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Flask API + React frontend, Docker Compose deployment</a:t>
            </a:r>
            <a:endParaRPr lang="en-US" sz="1050" dirty="0"/>
          </a:p>
          <a:p>
            <a:pPr marL="177800" indent="-177800">
              <a:lnSpc>
                <a:spcPct val="115000"/>
              </a:lnSpc>
              <a:spcAft>
                <a:spcPts val="2160"/>
              </a:spcAft>
              <a:buSzPct val="100000"/>
              <a:buChar char="—"/>
            </a:pPr>
            <a:r>
              <a:rPr lang="en-US" sz="10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Real-world validation tooling (evaluate_manual.py)</a:t>
            </a:r>
            <a:endParaRPr lang="en-US" sz="1050" dirty="0"/>
          </a:p>
          <a:p>
            <a:pPr marL="177800" indent="-177800">
              <a:lnSpc>
                <a:spcPct val="115000"/>
              </a:lnSpc>
              <a:spcAft>
                <a:spcPts val="2160"/>
              </a:spcAft>
              <a:buSzPct val="100000"/>
              <a:buChar char="—"/>
            </a:pPr>
            <a:r>
              <a:rPr lang="en-US" sz="10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34 tests passing across backend &amp; frontend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989320" y="1920240"/>
            <a:ext cx="5166360" cy="4160520"/>
          </a:xfrm>
          <a:prstGeom prst="roundRect">
            <a:avLst>
              <a:gd name="adj" fmla="val 1758"/>
            </a:avLst>
          </a:prstGeom>
          <a:solidFill>
            <a:srgbClr val="1B2A4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263640" y="2103120"/>
            <a:ext cx="461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E8B8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263640" y="2487168"/>
            <a:ext cx="461772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5000"/>
              </a:lnSpc>
              <a:spcAft>
                <a:spcPts val="2160"/>
              </a:spcAft>
              <a:buSzPct val="100000"/>
              <a:buChar char="—"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  A real, hand-collected validation set — the highest-leverage gap remaining</a:t>
            </a:r>
            <a:endParaRPr lang="en-US" sz="1050" dirty="0"/>
          </a:p>
          <a:p>
            <a:pPr marL="177800" indent="-177800">
              <a:lnSpc>
                <a:spcPct val="115000"/>
              </a:lnSpc>
              <a:spcAft>
                <a:spcPts val="2160"/>
              </a:spcAft>
              <a:buSzPct val="100000"/>
              <a:buChar char="—"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  A tamper type that exercises chrome/arithmetic cues during training</a:t>
            </a:r>
            <a:endParaRPr lang="en-US" sz="1050" dirty="0"/>
          </a:p>
          <a:p>
            <a:pPr marL="177800" indent="-177800">
              <a:lnSpc>
                <a:spcPct val="115000"/>
              </a:lnSpc>
              <a:spcAft>
                <a:spcPts val="2160"/>
              </a:spcAft>
              <a:buSzPct val="100000"/>
              <a:buChar char="—"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  A genuine cross-renderer test for font_score</a:t>
            </a:r>
            <a:endParaRPr lang="en-US" sz="1050" dirty="0"/>
          </a:p>
          <a:p>
            <a:pPr marL="177800" indent="-177800">
              <a:lnSpc>
                <a:spcPct val="115000"/>
              </a:lnSpc>
              <a:spcAft>
                <a:spcPts val="2160"/>
              </a:spcAft>
              <a:buSzPct val="100000"/>
              <a:buChar char="—"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  A properly threshold-swept per-domain cutoff</a:t>
            </a:r>
            <a:endParaRPr lang="en-US" sz="1050" dirty="0"/>
          </a:p>
          <a:p>
            <a:pPr marL="177800" indent="-177800">
              <a:lnSpc>
                <a:spcPct val="115000"/>
              </a:lnSpc>
              <a:spcAft>
                <a:spcPts val="2160"/>
              </a:spcAft>
              <a:buSzPct val="100000"/>
              <a:buChar char="—"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  CNN / deep-learning model (CNN-on-ELA hybrid)</a:t>
            </a:r>
            <a:endParaRPr lang="en-US" sz="1050" dirty="0"/>
          </a:p>
          <a:p>
            <a:pPr marL="177800" indent="-177800">
              <a:lnSpc>
                <a:spcPct val="115000"/>
              </a:lnSpc>
              <a:spcAft>
                <a:spcPts val="2160"/>
              </a:spcAft>
              <a:buSzPct val="100000"/>
              <a:buChar char="—"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  Cloud deployment, CI/CD, monitoring, auth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6263640" y="5623560"/>
            <a:ext cx="4617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A9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PRNU intentionally skipped — doesn’t apply to screenshots (no camera sensor).</a:t>
            </a:r>
            <a:endParaRPr lang="en-US" sz="85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651052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SCREENSHOT DETECTOR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11094415" y="651052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9144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B8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34440"/>
            <a:ext cx="9601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working, honest, explainable</a:t>
            </a:r>
            <a:endParaRPr lang="en-US" sz="3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forensic tool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880360"/>
            <a:ext cx="987552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5000"/>
              </a:lnSpc>
              <a:spcAft>
                <a:spcPts val="1584"/>
              </a:spcAft>
              <a:buSzPct val="100000"/>
              <a:buChar char="—"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Eleven forensic cues fused by a trained classifier, with per-domain thresholds and explainable overrides</a:t>
            </a:r>
            <a:endParaRPr lang="en-US" sz="1350" dirty="0"/>
          </a:p>
          <a:p>
            <a:pPr marL="177800" indent="-177800">
              <a:lnSpc>
                <a:spcPct val="115000"/>
              </a:lnSpc>
              <a:spcAft>
                <a:spcPts val="1584"/>
              </a:spcAft>
              <a:buSzPct val="100000"/>
              <a:buChar char="—"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new cue was empirically tested — kept if validated, shown-but-excluded if not, exactly like JPEG Ghost before it</a:t>
            </a:r>
            <a:endParaRPr lang="en-US" sz="1350" dirty="0"/>
          </a:p>
          <a:p>
            <a:pPr marL="177800" indent="-177800">
              <a:lnSpc>
                <a:spcPct val="115000"/>
              </a:lnSpc>
              <a:spcAft>
                <a:spcPts val="1584"/>
              </a:spcAft>
              <a:buSzPct val="100000"/>
              <a:buChar char="—"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against a pooled real dataset, a synthetic corpus, and a per-source breakdown — not just claimed</a:t>
            </a:r>
            <a:endParaRPr lang="en-US" sz="1350" dirty="0"/>
          </a:p>
          <a:p>
            <a:pPr marL="177800" indent="-177800">
              <a:lnSpc>
                <a:spcPct val="115000"/>
              </a:lnSpc>
              <a:spcAft>
                <a:spcPts val="1584"/>
              </a:spcAft>
              <a:buSzPct val="100000"/>
              <a:buChar char="—"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known limitation is disclosed, not hidden — domain gap, unreliable cues, un-swept thresholds, no real-world validation yet</a:t>
            </a:r>
            <a:endParaRPr lang="en-US" sz="1350" dirty="0"/>
          </a:p>
          <a:p>
            <a:pPr marL="177800" indent="-177800">
              <a:lnSpc>
                <a:spcPct val="115000"/>
              </a:lnSpc>
              <a:spcAft>
                <a:spcPts val="1584"/>
              </a:spcAft>
              <a:buSzPct val="100000"/>
              <a:buChar char="—"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Deployed, Dockerized, and fully tested end to end — 34 tests passing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58064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 — Questions?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github.com/albert-matheww/fake-screenshot-detector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2026-09-15T14:20:41Z</dcterms:created>
  <dcterms:modified xsi:type="dcterms:W3CDTF">2026-09-15T14:20:41Z</dcterms:modified>
</cp:coreProperties>
</file>